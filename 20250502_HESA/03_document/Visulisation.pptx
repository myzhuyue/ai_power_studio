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0" r:id="rId2"/>
    <p:sldId id="283" r:id="rId3"/>
    <p:sldId id="282" r:id="rId4"/>
    <p:sldId id="285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04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09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14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1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5239" algn="l" defTabSz="914095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2288" algn="l" defTabSz="914095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199336" algn="l" defTabSz="914095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6383" algn="l" defTabSz="914095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83550"/>
  </p:normalViewPr>
  <p:slideViewPr>
    <p:cSldViewPr>
      <p:cViewPr varScale="1">
        <p:scale>
          <a:sx n="99" d="100"/>
          <a:sy n="99" d="100"/>
        </p:scale>
        <p:origin x="224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ECCAEB-7496-4C12-9A08-526B0D813A46}" type="datetimeFigureOut">
              <a:rPr lang="en-GB" smtClean="0"/>
              <a:pPr/>
              <a:t>05/05/2025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8D4E6-F64F-4999-AC2A-A008E685C04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2246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0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48" algn="l" defTabSz="9140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095" algn="l" defTabSz="9140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144" algn="l" defTabSz="9140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190" algn="l" defTabSz="9140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239" algn="l" defTabSz="9140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288" algn="l" defTabSz="9140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336" algn="l" defTabSz="9140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383" algn="l" defTabSz="9140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8D4E6-F64F-4999-AC2A-A008E685C045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969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2130449"/>
            <a:ext cx="7772400" cy="1470023"/>
          </a:xfrm>
        </p:spPr>
        <p:txBody>
          <a:bodyPr/>
          <a:lstStyle>
            <a:lvl1pPr>
              <a:defRPr sz="2411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544" y="3886200"/>
            <a:ext cx="6400800" cy="1752600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342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38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2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7AB759-530A-46AC-842F-B07144F002F9}" type="datetimeFigureOut">
              <a:rPr lang="en-GB"/>
              <a:pPr/>
              <a:t>05/05/2025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AD8A0A-4898-40BF-9009-4DA7E611EAC1}" type="slidenum">
              <a:rPr lang="en-GB"/>
              <a:pPr/>
              <a:t>‹#›</a:t>
            </a:fld>
            <a:endParaRPr lang="en-GB" dirty="0"/>
          </a:p>
        </p:txBody>
      </p:sp>
      <p:pic>
        <p:nvPicPr>
          <p:cNvPr id="7" name="Picture 5" descr="TAB_col_white_background.eps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509600"/>
            <a:ext cx="1663700" cy="7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6" y="1268760"/>
            <a:ext cx="5842993" cy="1143000"/>
          </a:xfrm>
        </p:spPr>
        <p:txBody>
          <a:bodyPr/>
          <a:lstStyle>
            <a:lvl1pPr>
              <a:defRPr sz="241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492897"/>
            <a:ext cx="8229600" cy="3633271"/>
          </a:xfrm>
        </p:spPr>
        <p:txBody>
          <a:bodyPr/>
          <a:lstStyle>
            <a:lvl1pPr>
              <a:defRPr sz="2100"/>
            </a:lvl1pPr>
            <a:lvl2pPr>
              <a:defRPr sz="1801"/>
            </a:lvl2pPr>
            <a:lvl3pPr>
              <a:defRPr sz="1801"/>
            </a:lvl3pPr>
            <a:lvl4pPr>
              <a:defRPr sz="1801"/>
            </a:lvl4pPr>
            <a:lvl5pPr>
              <a:defRPr sz="180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22B6232-AB33-4513-9527-F98CEC472D23}" type="datetimeFigureOut">
              <a:rPr lang="en-GB" smtClean="0"/>
              <a:pPr/>
              <a:t>05/05/2025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58A139-7ABE-46A1-B082-C2C77667394C}" type="slidenum">
              <a:rPr lang="en-GB"/>
              <a:pPr/>
              <a:t>‹#›</a:t>
            </a:fld>
            <a:endParaRPr lang="en-GB" dirty="0"/>
          </a:p>
        </p:txBody>
      </p:sp>
      <p:pic>
        <p:nvPicPr>
          <p:cNvPr id="7" name="Picture 5" descr="TAB_col_white_background.eps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509600"/>
            <a:ext cx="1663700" cy="7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406904"/>
            <a:ext cx="7772400" cy="1362075"/>
          </a:xfrm>
        </p:spPr>
        <p:txBody>
          <a:bodyPr anchor="t"/>
          <a:lstStyle>
            <a:lvl1pPr algn="l">
              <a:defRPr sz="3009" b="1" cap="all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536" y="2906729"/>
            <a:ext cx="7772400" cy="1500188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774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2pPr>
            <a:lvl3pPr marL="685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340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4pPr>
            <a:lvl5pPr marL="1371112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5pPr>
            <a:lvl6pPr marL="1713894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6pPr>
            <a:lvl7pPr marL="2056678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7pPr>
            <a:lvl8pPr marL="2399441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8pPr>
            <a:lvl9pPr marL="2742243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5CD916-7149-4247-856D-87DAB39295C7}" type="datetimeFigureOut">
              <a:rPr lang="en-GB"/>
              <a:pPr/>
              <a:t>05/05/2025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ACF840-035C-411F-BA81-AF7A8ED78138}" type="slidenum">
              <a:rPr lang="en-GB"/>
              <a:pPr/>
              <a:t>‹#›</a:t>
            </a:fld>
            <a:endParaRPr lang="en-GB" dirty="0"/>
          </a:p>
        </p:txBody>
      </p:sp>
      <p:pic>
        <p:nvPicPr>
          <p:cNvPr id="7" name="Picture 5" descr="TAB_col_white_background.eps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75" y="509600"/>
            <a:ext cx="1663700" cy="7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6" y="1268760"/>
            <a:ext cx="5842993" cy="1143000"/>
          </a:xfrm>
        </p:spPr>
        <p:txBody>
          <a:bodyPr/>
          <a:lstStyle>
            <a:lvl1pPr>
              <a:defRPr sz="241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8" y="2492897"/>
            <a:ext cx="4038601" cy="3633271"/>
          </a:xfrm>
        </p:spPr>
        <p:txBody>
          <a:bodyPr/>
          <a:lstStyle>
            <a:lvl1pPr>
              <a:defRPr sz="2100" baseline="0"/>
            </a:lvl1pPr>
            <a:lvl2pPr>
              <a:defRPr sz="1801"/>
            </a:lvl2pPr>
            <a:lvl3pPr>
              <a:defRPr sz="1801"/>
            </a:lvl3pPr>
            <a:lvl4pPr>
              <a:defRPr sz="1801"/>
            </a:lvl4pPr>
            <a:lvl5pPr>
              <a:defRPr sz="180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86539" y="2492897"/>
            <a:ext cx="4038601" cy="3633271"/>
          </a:xfrm>
        </p:spPr>
        <p:txBody>
          <a:bodyPr/>
          <a:lstStyle>
            <a:lvl1pPr>
              <a:defRPr sz="2100"/>
            </a:lvl1pPr>
            <a:lvl2pPr>
              <a:defRPr sz="1801"/>
            </a:lvl2pPr>
            <a:lvl3pPr>
              <a:defRPr sz="1801"/>
            </a:lvl3pPr>
            <a:lvl4pPr>
              <a:defRPr sz="1801"/>
            </a:lvl4pPr>
            <a:lvl5pPr>
              <a:defRPr sz="180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D09641-23CB-4E80-A5B0-5F03D2E94610}" type="datetimeFigureOut">
              <a:rPr lang="en-GB"/>
              <a:pPr/>
              <a:t>05/05/2025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7FA264-F771-4264-8DF0-4BB7F0DA3C69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86" y="1268760"/>
            <a:ext cx="5842993" cy="1143000"/>
          </a:xfrm>
        </p:spPr>
        <p:txBody>
          <a:bodyPr/>
          <a:lstStyle>
            <a:lvl1pPr>
              <a:defRPr sz="21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886" y="2348880"/>
            <a:ext cx="4040188" cy="639765"/>
          </a:xfrm>
        </p:spPr>
        <p:txBody>
          <a:bodyPr anchor="b"/>
          <a:lstStyle>
            <a:lvl1pPr marL="0" indent="0">
              <a:buNone/>
              <a:defRPr sz="1801" b="0"/>
            </a:lvl1pPr>
            <a:lvl2pPr marL="342774" indent="0">
              <a:buNone/>
              <a:defRPr sz="1500" b="1"/>
            </a:lvl2pPr>
            <a:lvl3pPr marL="685566" indent="0">
              <a:buNone/>
              <a:defRPr sz="1351" b="1"/>
            </a:lvl3pPr>
            <a:lvl4pPr marL="1028340" indent="0">
              <a:buNone/>
              <a:defRPr sz="1200" b="1"/>
            </a:lvl4pPr>
            <a:lvl5pPr marL="1371112" indent="0">
              <a:buNone/>
              <a:defRPr sz="1200" b="1"/>
            </a:lvl5pPr>
            <a:lvl6pPr marL="1713894" indent="0">
              <a:buNone/>
              <a:defRPr sz="1200" b="1"/>
            </a:lvl6pPr>
            <a:lvl7pPr marL="2056678" indent="0">
              <a:buNone/>
              <a:defRPr sz="1200" b="1"/>
            </a:lvl7pPr>
            <a:lvl8pPr marL="2399441" indent="0">
              <a:buNone/>
              <a:defRPr sz="1200" b="1"/>
            </a:lvl8pPr>
            <a:lvl9pPr marL="2742243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543" y="3068975"/>
            <a:ext cx="4040188" cy="3057203"/>
          </a:xfrm>
        </p:spPr>
        <p:txBody>
          <a:bodyPr/>
          <a:lstStyle>
            <a:lvl1pPr>
              <a:defRPr sz="1801"/>
            </a:lvl1pPr>
            <a:lvl2pPr>
              <a:defRPr sz="1801"/>
            </a:lvl2pPr>
            <a:lvl3pPr>
              <a:defRPr sz="1801"/>
            </a:lvl3pPr>
            <a:lvl4pPr>
              <a:defRPr sz="1801"/>
            </a:lvl4pPr>
            <a:lvl5pPr>
              <a:defRPr sz="1801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2349" y="2348880"/>
            <a:ext cx="4041776" cy="639765"/>
          </a:xfrm>
        </p:spPr>
        <p:txBody>
          <a:bodyPr anchor="b"/>
          <a:lstStyle>
            <a:lvl1pPr marL="0" indent="0">
              <a:buNone/>
              <a:defRPr sz="1801" b="0"/>
            </a:lvl1pPr>
            <a:lvl2pPr marL="342774" indent="0">
              <a:buNone/>
              <a:defRPr sz="1500" b="1"/>
            </a:lvl2pPr>
            <a:lvl3pPr marL="685566" indent="0">
              <a:buNone/>
              <a:defRPr sz="1351" b="1"/>
            </a:lvl3pPr>
            <a:lvl4pPr marL="1028340" indent="0">
              <a:buNone/>
              <a:defRPr sz="1200" b="1"/>
            </a:lvl4pPr>
            <a:lvl5pPr marL="1371112" indent="0">
              <a:buNone/>
              <a:defRPr sz="1200" b="1"/>
            </a:lvl5pPr>
            <a:lvl6pPr marL="1713894" indent="0">
              <a:buNone/>
              <a:defRPr sz="1200" b="1"/>
            </a:lvl6pPr>
            <a:lvl7pPr marL="2056678" indent="0">
              <a:buNone/>
              <a:defRPr sz="1200" b="1"/>
            </a:lvl7pPr>
            <a:lvl8pPr marL="2399441" indent="0">
              <a:buNone/>
              <a:defRPr sz="1200" b="1"/>
            </a:lvl8pPr>
            <a:lvl9pPr marL="2742243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83368" y="3068975"/>
            <a:ext cx="4041776" cy="3057203"/>
          </a:xfrm>
        </p:spPr>
        <p:txBody>
          <a:bodyPr/>
          <a:lstStyle>
            <a:lvl1pPr>
              <a:defRPr sz="1801"/>
            </a:lvl1pPr>
            <a:lvl2pPr>
              <a:defRPr sz="1801"/>
            </a:lvl2pPr>
            <a:lvl3pPr>
              <a:defRPr sz="1801"/>
            </a:lvl3pPr>
            <a:lvl4pPr>
              <a:defRPr sz="1801"/>
            </a:lvl4pPr>
            <a:lvl5pPr>
              <a:defRPr sz="1801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9A4E03-F40B-4399-AC2E-A4C6E9D600B3}" type="datetimeFigureOut">
              <a:rPr lang="en-GB"/>
              <a:pPr/>
              <a:t>05/05/2025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92BDDC-0BFC-44A0-A4BA-47C3E99EB1AA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1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FE8F7DA-80EC-4CF7-AB7B-078F533B953B}" type="datetimeFigureOut">
              <a:rPr lang="en-GB"/>
              <a:pPr/>
              <a:t>05/05/2025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4E6293-7DA2-4D9E-8605-5715E69AF2C7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1AE269B-21F6-4A71-848B-6E891C314B78}" type="datetimeFigureOut">
              <a:rPr lang="en-GB"/>
              <a:pPr/>
              <a:t>05/05/2025</a:t>
            </a:fld>
            <a:endParaRPr lang="en-GB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789173-A1D5-421E-B384-2A426DF314C2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41" y="1186829"/>
            <a:ext cx="3008315" cy="1162051"/>
          </a:xfrm>
        </p:spPr>
        <p:txBody>
          <a:bodyPr anchor="b"/>
          <a:lstStyle>
            <a:lvl1pPr algn="l">
              <a:defRPr sz="2411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5" y="1196763"/>
            <a:ext cx="5111752" cy="4929413"/>
          </a:xfrm>
        </p:spPr>
        <p:txBody>
          <a:bodyPr/>
          <a:lstStyle>
            <a:lvl1pPr>
              <a:defRPr sz="2411"/>
            </a:lvl1pPr>
            <a:lvl2pPr>
              <a:defRPr sz="2100"/>
            </a:lvl2pPr>
            <a:lvl3pPr>
              <a:defRPr sz="1801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8" y="2420901"/>
            <a:ext cx="3008315" cy="3705279"/>
          </a:xfrm>
        </p:spPr>
        <p:txBody>
          <a:bodyPr/>
          <a:lstStyle>
            <a:lvl1pPr marL="0" indent="0">
              <a:buNone/>
              <a:defRPr sz="1801"/>
            </a:lvl1pPr>
            <a:lvl2pPr marL="342774" indent="0">
              <a:buNone/>
              <a:defRPr sz="1001"/>
            </a:lvl2pPr>
            <a:lvl3pPr marL="685566" indent="0">
              <a:buNone/>
              <a:defRPr sz="1001"/>
            </a:lvl3pPr>
            <a:lvl4pPr marL="1028340" indent="0">
              <a:buNone/>
              <a:defRPr sz="1001"/>
            </a:lvl4pPr>
            <a:lvl5pPr marL="1371112" indent="0">
              <a:buNone/>
              <a:defRPr sz="1001"/>
            </a:lvl5pPr>
            <a:lvl6pPr marL="1713894" indent="0">
              <a:buNone/>
              <a:defRPr sz="1001"/>
            </a:lvl6pPr>
            <a:lvl7pPr marL="2056678" indent="0">
              <a:buNone/>
              <a:defRPr sz="1001"/>
            </a:lvl7pPr>
            <a:lvl8pPr marL="2399441" indent="0">
              <a:buNone/>
              <a:defRPr sz="1001"/>
            </a:lvl8pPr>
            <a:lvl9pPr marL="2742243" indent="0">
              <a:buNone/>
              <a:defRPr sz="100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89648B1-3911-4AC2-8E3A-DF4A70CC86E7}" type="datetimeFigureOut">
              <a:rPr lang="en-GB"/>
              <a:pPr/>
              <a:t>05/05/2025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53D388-5704-4C64-A883-D899E8570667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11"/>
            <a:ext cx="5486400" cy="566739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3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2411"/>
            </a:lvl1pPr>
            <a:lvl2pPr marL="342774" indent="0">
              <a:buNone/>
              <a:defRPr sz="2100"/>
            </a:lvl2pPr>
            <a:lvl3pPr marL="685566" indent="0">
              <a:buNone/>
              <a:defRPr sz="1801"/>
            </a:lvl3pPr>
            <a:lvl4pPr marL="1028340" indent="0">
              <a:buNone/>
              <a:defRPr sz="1500"/>
            </a:lvl4pPr>
            <a:lvl5pPr marL="1371112" indent="0">
              <a:buNone/>
              <a:defRPr sz="1500"/>
            </a:lvl5pPr>
            <a:lvl6pPr marL="1713894" indent="0">
              <a:buNone/>
              <a:defRPr sz="1500"/>
            </a:lvl6pPr>
            <a:lvl7pPr marL="2056678" indent="0">
              <a:buNone/>
              <a:defRPr sz="1500"/>
            </a:lvl7pPr>
            <a:lvl8pPr marL="2399441" indent="0">
              <a:buNone/>
              <a:defRPr sz="1500"/>
            </a:lvl8pPr>
            <a:lvl9pPr marL="2742243" indent="0">
              <a:buNone/>
              <a:defRPr sz="15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51"/>
            <a:ext cx="5486400" cy="804863"/>
          </a:xfrm>
        </p:spPr>
        <p:txBody>
          <a:bodyPr/>
          <a:lstStyle>
            <a:lvl1pPr marL="0" indent="0">
              <a:buNone/>
              <a:defRPr sz="1051"/>
            </a:lvl1pPr>
            <a:lvl2pPr marL="342774" indent="0">
              <a:buNone/>
              <a:defRPr sz="1001"/>
            </a:lvl2pPr>
            <a:lvl3pPr marL="685566" indent="0">
              <a:buNone/>
              <a:defRPr sz="1001"/>
            </a:lvl3pPr>
            <a:lvl4pPr marL="1028340" indent="0">
              <a:buNone/>
              <a:defRPr sz="1001"/>
            </a:lvl4pPr>
            <a:lvl5pPr marL="1371112" indent="0">
              <a:buNone/>
              <a:defRPr sz="1001"/>
            </a:lvl5pPr>
            <a:lvl6pPr marL="1713894" indent="0">
              <a:buNone/>
              <a:defRPr sz="1001"/>
            </a:lvl6pPr>
            <a:lvl7pPr marL="2056678" indent="0">
              <a:buNone/>
              <a:defRPr sz="1001"/>
            </a:lvl7pPr>
            <a:lvl8pPr marL="2399441" indent="0">
              <a:buNone/>
              <a:defRPr sz="1001"/>
            </a:lvl8pPr>
            <a:lvl9pPr marL="2742243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2AAA9A3-945F-42AF-BCAE-8459AEA58868}" type="datetimeFigureOut">
              <a:rPr lang="en-GB"/>
              <a:pPr/>
              <a:t>05/05/2025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74E2F5-7E8D-47B8-82FB-3832A72B6BDB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1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2411"/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8FF8105-8845-4543-9ED8-9E57E8E42CB7}" type="datetimeFigureOut">
              <a:rPr lang="en-GB"/>
              <a:pPr/>
              <a:t>05/05/2025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FF8E4D-CDF4-4B1F-BD52-35BFB528DB87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5" y="1556801"/>
            <a:ext cx="2057401" cy="4569368"/>
          </a:xfrm>
        </p:spPr>
        <p:txBody>
          <a:bodyPr vert="eaVert"/>
          <a:lstStyle>
            <a:lvl1pPr>
              <a:defRPr sz="241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5" y="1556801"/>
            <a:ext cx="6019801" cy="4569368"/>
          </a:xfrm>
        </p:spPr>
        <p:txBody>
          <a:bodyPr vert="eaVert"/>
          <a:lstStyle>
            <a:lvl1pPr>
              <a:defRPr sz="2100"/>
            </a:lvl1pPr>
            <a:lvl2pPr>
              <a:defRPr sz="1801"/>
            </a:lvl2pPr>
            <a:lvl3pPr>
              <a:defRPr sz="1801"/>
            </a:lvl3pPr>
            <a:lvl4pPr>
              <a:defRPr sz="1801"/>
            </a:lvl4pPr>
            <a:lvl5pPr>
              <a:defRPr sz="180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976883-B614-42E6-9595-363FA777B038}" type="datetimeFigureOut">
              <a:rPr lang="en-GB"/>
              <a:pPr/>
              <a:t>05/05/2025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915344-E335-44E9-ACDC-CB4826450486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67543" y="1268760"/>
            <a:ext cx="5842993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2492897"/>
            <a:ext cx="8229600" cy="3633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67"/>
            <a:ext cx="2133600" cy="36512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1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56A7D1D-6254-4063-974C-6A2AE04E4B91}" type="datetimeFigureOut">
              <a:rPr lang="en-GB"/>
              <a:pPr/>
              <a:t>05/05/2025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3" y="6356367"/>
            <a:ext cx="2895600" cy="36512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1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67"/>
            <a:ext cx="2133600" cy="36512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1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6878614-5F41-4702-8E44-D9C8B2874F5D}" type="slidenum">
              <a:rPr lang="en-GB"/>
              <a:pPr/>
              <a:t>‹#›</a:t>
            </a:fld>
            <a:endParaRPr lang="en-GB" dirty="0"/>
          </a:p>
        </p:txBody>
      </p:sp>
      <p:pic>
        <p:nvPicPr>
          <p:cNvPr id="7" name="Picture 5" descr="TAB_col_white_background.eps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23875" y="509600"/>
            <a:ext cx="1663700" cy="7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2411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774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566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34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112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088" indent="-257088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023" indent="-21424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6948" indent="-171381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199719" indent="-171381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2513" indent="-171381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285" indent="-171381" algn="l" defTabSz="685566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068" indent="-171381" algn="l" defTabSz="685566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0842" indent="-171381" algn="l" defTabSz="685566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3614" indent="-171381" algn="l" defTabSz="685566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5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774" algn="l" defTabSz="6855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566" algn="l" defTabSz="6855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340" algn="l" defTabSz="6855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112" algn="l" defTabSz="6855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3894" algn="l" defTabSz="6855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6678" algn="l" defTabSz="6855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399441" algn="l" defTabSz="6855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2243" algn="l" defTabSz="6855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D4777-6B1B-ADCD-7F4F-D13952B3D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a number of people in the city&#10;&#10;AI-generated content may be incorrect.">
            <a:extLst>
              <a:ext uri="{FF2B5EF4-FFF2-40B4-BE49-F238E27FC236}">
                <a16:creationId xmlns:a16="http://schemas.microsoft.com/office/drawing/2014/main" id="{5381BFCC-D886-BBC8-875A-1105B223B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606" y="256992"/>
            <a:ext cx="5554404" cy="2667951"/>
          </a:xfrm>
          <a:prstGeom prst="rect">
            <a:avLst/>
          </a:prstGeom>
        </p:spPr>
      </p:pic>
      <p:pic>
        <p:nvPicPr>
          <p:cNvPr id="4" name="Picture 3" descr="A graph of a bar graph&#10;&#10;AI-generated content may be incorrect.">
            <a:extLst>
              <a:ext uri="{FF2B5EF4-FFF2-40B4-BE49-F238E27FC236}">
                <a16:creationId xmlns:a16="http://schemas.microsoft.com/office/drawing/2014/main" id="{27E7A15D-2C48-0098-DCC5-46260A26C0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606" y="3212976"/>
            <a:ext cx="5554404" cy="367016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752FF48-CC06-6EA1-0F83-F9CBF846C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710" y="1701414"/>
            <a:ext cx="5842993" cy="1143000"/>
          </a:xfrm>
        </p:spPr>
        <p:txBody>
          <a:bodyPr/>
          <a:lstStyle/>
          <a:p>
            <a:r>
              <a:rPr lang="en-US" sz="28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Research Income</a:t>
            </a:r>
            <a:br>
              <a:rPr lang="en-US" sz="28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800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705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626ED-B507-793D-5B34-A3B33CDE1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70CF2C3-D656-3FBE-DE20-1E64920CA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4419825"/>
            <a:ext cx="7772400" cy="24381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EC3472-7876-39B9-D94B-232D03FC1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1920" y="476672"/>
            <a:ext cx="5004540" cy="857260"/>
          </a:xfrm>
        </p:spPr>
        <p:txBody>
          <a:bodyPr/>
          <a:lstStyle/>
          <a:p>
            <a:pPr algn="r"/>
            <a:r>
              <a:rPr lang="en-US" sz="28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Industry Engagement</a:t>
            </a:r>
            <a:br>
              <a:rPr lang="en-US" sz="28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sz="2000" b="0" i="0" dirty="0">
                <a:solidFill>
                  <a:srgbClr val="4B5563"/>
                </a:solidFill>
                <a:effectLst/>
                <a:latin typeface="ui-sans-serif"/>
              </a:rPr>
              <a:t>Academic Year: 2023/24 | UKPRN: 10007798</a:t>
            </a:r>
            <a:endParaRPr lang="en-US" sz="2800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086054-E045-913E-77C8-B0333D4B8D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56792"/>
            <a:ext cx="7772400" cy="351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3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305E3-39DF-E4BE-7E2D-AFF2C5941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EDD78-8C5A-BA62-1CC1-35C95B78D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1920" y="476672"/>
            <a:ext cx="5090727" cy="857260"/>
          </a:xfrm>
        </p:spPr>
        <p:txBody>
          <a:bodyPr/>
          <a:lstStyle/>
          <a:p>
            <a:r>
              <a:rPr lang="en-GB" sz="2800" b="1" i="0" dirty="0">
                <a:solidFill>
                  <a:srgbClr val="7030A0"/>
                </a:solidFill>
                <a:effectLst/>
                <a:latin typeface="Segoe UI" panose="020B0502040204020203" pitchFamily="34" charset="0"/>
              </a:rPr>
              <a:t>Market Share of UoM in RG</a:t>
            </a:r>
            <a:endParaRPr lang="en-US" sz="2800" dirty="0">
              <a:solidFill>
                <a:srgbClr val="7030A0"/>
              </a:solidFill>
            </a:endParaRPr>
          </a:p>
        </p:txBody>
      </p:sp>
      <p:pic>
        <p:nvPicPr>
          <p:cNvPr id="5" name="Picture 4" descr="A graph showing the percentage of a company&#10;&#10;AI-generated content may be incorrect.">
            <a:extLst>
              <a:ext uri="{FF2B5EF4-FFF2-40B4-BE49-F238E27FC236}">
                <a16:creationId xmlns:a16="http://schemas.microsoft.com/office/drawing/2014/main" id="{56EA752B-6E8E-9AE3-6B1A-CC0E36C878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" y="1739900"/>
            <a:ext cx="7759700" cy="3378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1AEE2E-A378-8A98-0010-234F1F477E54}"/>
              </a:ext>
            </a:extLst>
          </p:cNvPr>
          <p:cNvSpPr txBox="1"/>
          <p:nvPr/>
        </p:nvSpPr>
        <p:spPr>
          <a:xfrm>
            <a:off x="467544" y="5380672"/>
            <a:ext cx="7759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7030A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UoM’s Research Council Income (RCI): £117.0M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 Russell Group RCI: £1,883.1M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UoM’s Market Share: 6.22% of total Russell Group RCI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UoM ranks 6</a:t>
            </a:r>
            <a:r>
              <a:rPr lang="en-GB" b="1" baseline="300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</a:t>
            </a:r>
            <a:r>
              <a:rPr lang="en-GB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among 24 Russell Group</a:t>
            </a:r>
            <a:endParaRPr lang="en-US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733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F1C4D-CCE6-7222-CB78-F129A5703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E5710-20FF-6EDC-4107-109634100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1920" y="476672"/>
            <a:ext cx="5090727" cy="857260"/>
          </a:xfrm>
        </p:spPr>
        <p:txBody>
          <a:bodyPr/>
          <a:lstStyle/>
          <a:p>
            <a:r>
              <a:rPr lang="en-GB" sz="2800" b="1" i="0" dirty="0">
                <a:solidFill>
                  <a:srgbClr val="7030A0"/>
                </a:solidFill>
                <a:effectLst/>
                <a:latin typeface="Segoe UI" panose="020B0502040204020203" pitchFamily="34" charset="0"/>
              </a:rPr>
              <a:t>Relative</a:t>
            </a:r>
            <a:r>
              <a:rPr lang="zh-CN" altLang="en-US" sz="2800" b="1" i="0" dirty="0">
                <a:solidFill>
                  <a:srgbClr val="7030A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altLang="zh-CN" sz="2800" b="1" i="0" dirty="0">
                <a:solidFill>
                  <a:srgbClr val="7030A0"/>
                </a:solidFill>
                <a:effectLst/>
                <a:latin typeface="Segoe UI" panose="020B0502040204020203" pitchFamily="34" charset="0"/>
              </a:rPr>
              <a:t>Market</a:t>
            </a:r>
            <a:r>
              <a:rPr lang="zh-CN" altLang="en-US" sz="2800" b="1" i="0" dirty="0">
                <a:solidFill>
                  <a:srgbClr val="7030A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altLang="zh-CN" sz="2800" b="1" i="0" dirty="0">
                <a:solidFill>
                  <a:srgbClr val="7030A0"/>
                </a:solidFill>
                <a:effectLst/>
                <a:latin typeface="Segoe UI" panose="020B0502040204020203" pitchFamily="34" charset="0"/>
              </a:rPr>
              <a:t>Share</a:t>
            </a:r>
            <a:r>
              <a:rPr lang="zh-CN" altLang="en-US" sz="2800" b="1" i="0" dirty="0">
                <a:solidFill>
                  <a:srgbClr val="7030A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altLang="zh-CN" sz="2800" b="1" i="0" dirty="0">
                <a:solidFill>
                  <a:srgbClr val="7030A0"/>
                </a:solidFill>
                <a:effectLst/>
                <a:latin typeface="Segoe UI" panose="020B0502040204020203" pitchFamily="34" charset="0"/>
              </a:rPr>
              <a:t>in</a:t>
            </a:r>
            <a:r>
              <a:rPr lang="zh-CN" altLang="en-US" sz="2800" b="1" i="0" dirty="0">
                <a:solidFill>
                  <a:srgbClr val="7030A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altLang="zh-CN" sz="2800" b="1" i="0" dirty="0">
                <a:solidFill>
                  <a:srgbClr val="7030A0"/>
                </a:solidFill>
                <a:effectLst/>
                <a:latin typeface="Segoe UI" panose="020B0502040204020203" pitchFamily="34" charset="0"/>
              </a:rPr>
              <a:t>RG</a:t>
            </a:r>
            <a:endParaRPr lang="en-US" sz="2800" dirty="0">
              <a:solidFill>
                <a:srgbClr val="7030A0"/>
              </a:solidFill>
            </a:endParaRPr>
          </a:p>
        </p:txBody>
      </p:sp>
      <p:pic>
        <p:nvPicPr>
          <p:cNvPr id="5" name="Picture 4" descr="A graph of blue and purple bars&#10;&#10;AI-generated content may be incorrect.">
            <a:extLst>
              <a:ext uri="{FF2B5EF4-FFF2-40B4-BE49-F238E27FC236}">
                <a16:creationId xmlns:a16="http://schemas.microsoft.com/office/drawing/2014/main" id="{3D983BD1-FBA3-36A2-CC97-D14752DCA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333667"/>
            <a:ext cx="6768752" cy="3062054"/>
          </a:xfrm>
          <a:prstGeom prst="rect">
            <a:avLst/>
          </a:prstGeom>
        </p:spPr>
      </p:pic>
      <p:pic>
        <p:nvPicPr>
          <p:cNvPr id="7" name="Picture 6" descr="A purple and white graph&#10;&#10;AI-generated content may be incorrect.">
            <a:extLst>
              <a:ext uri="{FF2B5EF4-FFF2-40B4-BE49-F238E27FC236}">
                <a16:creationId xmlns:a16="http://schemas.microsoft.com/office/drawing/2014/main" id="{B43F0CF5-40A7-7437-7CAF-877FA7621C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4434316"/>
            <a:ext cx="5760640" cy="24236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221C89-32CA-70BD-6279-E36CC0255D88}"/>
              </a:ext>
            </a:extLst>
          </p:cNvPr>
          <p:cNvSpPr txBox="1"/>
          <p:nvPr/>
        </p:nvSpPr>
        <p:spPr>
          <a:xfrm>
            <a:off x="457657" y="4934114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7030A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Relative Market Share compares an institution's actual market share to what it would receive if funding were evenly distributed among all Russell Group institutions (1/24 ≈ 4.17%).</a:t>
            </a:r>
            <a:endParaRPr lang="en-US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8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808" y="620688"/>
            <a:ext cx="6182440" cy="857260"/>
          </a:xfrm>
        </p:spPr>
        <p:txBody>
          <a:bodyPr/>
          <a:lstStyle/>
          <a:p>
            <a:pPr algn="r"/>
            <a:r>
              <a:rPr lang="en-US" sz="28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Student Composition</a:t>
            </a:r>
            <a:br>
              <a:rPr lang="en-US" sz="28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sz="2000" b="0" i="0" dirty="0">
                <a:solidFill>
                  <a:srgbClr val="4B5563"/>
                </a:solidFill>
                <a:effectLst/>
                <a:latin typeface="ui-sans-serif"/>
              </a:rPr>
              <a:t>Academic Year: 2023/24 | UKPRN: 10007798</a:t>
            </a:r>
            <a:r>
              <a:rPr lang="en-US" sz="20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en-US" sz="28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800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3" name="Picture 12" descr="A pie chart with text and numbers&#10;&#10;AI-generated content may be incorrect.">
            <a:extLst>
              <a:ext uri="{FF2B5EF4-FFF2-40B4-BE49-F238E27FC236}">
                <a16:creationId xmlns:a16="http://schemas.microsoft.com/office/drawing/2014/main" id="{48EB579B-DC03-DE10-E324-9F00490B9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772816"/>
            <a:ext cx="3361627" cy="4464496"/>
          </a:xfrm>
          <a:prstGeom prst="rect">
            <a:avLst/>
          </a:prstGeom>
        </p:spPr>
      </p:pic>
      <p:pic>
        <p:nvPicPr>
          <p:cNvPr id="19" name="Picture 18" descr="A circle with text on it&#10;&#10;AI-generated content may be incorrect.">
            <a:extLst>
              <a:ext uri="{FF2B5EF4-FFF2-40B4-BE49-F238E27FC236}">
                <a16:creationId xmlns:a16="http://schemas.microsoft.com/office/drawing/2014/main" id="{AAAB5601-F8B8-85F1-EC66-99E597306D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278" y="1916832"/>
            <a:ext cx="3293470" cy="2736304"/>
          </a:xfrm>
          <a:prstGeom prst="rect">
            <a:avLst/>
          </a:prstGeom>
        </p:spPr>
      </p:pic>
      <p:pic>
        <p:nvPicPr>
          <p:cNvPr id="21" name="Picture 20" descr="A screenshot of a graph&#10;&#10;AI-generated content may be incorrect.">
            <a:extLst>
              <a:ext uri="{FF2B5EF4-FFF2-40B4-BE49-F238E27FC236}">
                <a16:creationId xmlns:a16="http://schemas.microsoft.com/office/drawing/2014/main" id="{C634C9D7-5AC2-D655-1766-CF1B62B27C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866" y="4725144"/>
            <a:ext cx="2739433" cy="135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189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3211</TotalTime>
  <Words>101</Words>
  <Application>Microsoft Macintosh PowerPoint</Application>
  <PresentationFormat>On-screen Show (4:3)</PresentationFormat>
  <Paragraphs>11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ui-sans-serif</vt:lpstr>
      <vt:lpstr>Arial</vt:lpstr>
      <vt:lpstr>Calibri</vt:lpstr>
      <vt:lpstr>Segoe UI</vt:lpstr>
      <vt:lpstr>Office Theme</vt:lpstr>
      <vt:lpstr>Research Income </vt:lpstr>
      <vt:lpstr>Industry Engagement Academic Year: 2023/24 | UKPRN: 10007798</vt:lpstr>
      <vt:lpstr>Market Share of UoM in RG</vt:lpstr>
      <vt:lpstr>Relative Market Share in RG</vt:lpstr>
      <vt:lpstr>Student Composition Academic Year: 2023/24 | UKPRN: 10007798  </vt:lpstr>
    </vt:vector>
  </TitlesOfParts>
  <Company>University of Manchester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MZYSSPB2</dc:creator>
  <cp:lastModifiedBy>Gao, Yiyang</cp:lastModifiedBy>
  <cp:revision>210</cp:revision>
  <dcterms:created xsi:type="dcterms:W3CDTF">2012-06-12T15:56:20Z</dcterms:created>
  <dcterms:modified xsi:type="dcterms:W3CDTF">2025-05-05T15:03:22Z</dcterms:modified>
</cp:coreProperties>
</file>
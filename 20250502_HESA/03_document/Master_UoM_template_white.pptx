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8" r:id="rId2"/>
    <p:sldId id="259" r:id="rId3"/>
    <p:sldId id="261" r:id="rId4"/>
    <p:sldId id="260" r:id="rId5"/>
    <p:sldId id="264" r:id="rId6"/>
    <p:sldId id="265" r:id="rId7"/>
    <p:sldId id="266" r:id="rId8"/>
    <p:sldId id="267" r:id="rId9"/>
    <p:sldId id="268" r:id="rId10"/>
    <p:sldId id="263" r:id="rId1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7"/>
    <p:restoredTop sz="94661"/>
  </p:normalViewPr>
  <p:slideViewPr>
    <p:cSldViewPr>
      <p:cViewPr varScale="1">
        <p:scale>
          <a:sx n="114" d="100"/>
          <a:sy n="114" d="100"/>
        </p:scale>
        <p:origin x="600" y="16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ECCAEB-7496-4C12-9A08-526B0D813A46}" type="datetimeFigureOut">
              <a:rPr lang="en-GB" smtClean="0"/>
              <a:pPr/>
              <a:t>03/05/2025</a:t>
            </a:fld>
            <a:endParaRPr lang="en-GB"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E8D4E6-F64F-4999-AC2A-A008E685C045}" type="slidenum">
              <a:rPr lang="en-GB" smtClean="0"/>
              <a:pPr/>
              <a:t>‹#›</a:t>
            </a:fld>
            <a:endParaRPr lang="en-GB" dirty="0"/>
          </a:p>
        </p:txBody>
      </p:sp>
    </p:spTree>
    <p:extLst>
      <p:ext uri="{BB962C8B-B14F-4D97-AF65-F5344CB8AC3E}">
        <p14:creationId xmlns:p14="http://schemas.microsoft.com/office/powerpoint/2010/main" val="4212246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67544" y="2130425"/>
            <a:ext cx="7772400" cy="1470025"/>
          </a:xfrm>
        </p:spPr>
        <p:txBody>
          <a:bodyPr/>
          <a:lstStyle>
            <a:lvl1pPr>
              <a:defRPr sz="3200" b="1">
                <a:latin typeface="Arial" pitchFamily="34" charset="0"/>
                <a:cs typeface="Arial" pitchFamily="34" charset="0"/>
              </a:defRPr>
            </a:lvl1pPr>
          </a:lstStyle>
          <a:p>
            <a:r>
              <a:rPr lang="en-US" dirty="0"/>
              <a:t>Click to edit Master title style</a:t>
            </a:r>
            <a:endParaRPr lang="en-GB" dirty="0"/>
          </a:p>
        </p:txBody>
      </p:sp>
      <p:sp>
        <p:nvSpPr>
          <p:cNvPr id="3" name="Subtitle 2"/>
          <p:cNvSpPr>
            <a:spLocks noGrp="1"/>
          </p:cNvSpPr>
          <p:nvPr>
            <p:ph type="subTitle" idx="1"/>
          </p:nvPr>
        </p:nvSpPr>
        <p:spPr>
          <a:xfrm>
            <a:off x="467544" y="3886200"/>
            <a:ext cx="6400800" cy="1752600"/>
          </a:xfrm>
        </p:spPr>
        <p:txBody>
          <a:bodyPr/>
          <a:lstStyle>
            <a:lvl1pPr marL="0" indent="0" algn="l">
              <a:buNone/>
              <a:defRPr sz="2800">
                <a:solidFill>
                  <a:schemeClr val="tx1">
                    <a:tint val="75000"/>
                  </a:schemeClr>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sp>
        <p:nvSpPr>
          <p:cNvPr id="4" name="Date Placeholder 3"/>
          <p:cNvSpPr>
            <a:spLocks noGrp="1"/>
          </p:cNvSpPr>
          <p:nvPr>
            <p:ph type="dt" sz="half" idx="10"/>
          </p:nvPr>
        </p:nvSpPr>
        <p:spPr/>
        <p:txBody>
          <a:bodyPr/>
          <a:lstStyle>
            <a:lvl1pPr>
              <a:defRPr/>
            </a:lvl1pPr>
          </a:lstStyle>
          <a:p>
            <a:fld id="{EC7AB759-530A-46AC-842F-B07144F002F9}" type="datetimeFigureOut">
              <a:rPr lang="en-GB"/>
              <a:pPr/>
              <a:t>03/05/2025</a:t>
            </a:fld>
            <a:endParaRPr lang="en-GB" dirty="0"/>
          </a:p>
        </p:txBody>
      </p:sp>
      <p:sp>
        <p:nvSpPr>
          <p:cNvPr id="5" name="Footer Placeholder 4"/>
          <p:cNvSpPr>
            <a:spLocks noGrp="1"/>
          </p:cNvSpPr>
          <p:nvPr>
            <p:ph type="ftr" sz="quarter" idx="11"/>
          </p:nvPr>
        </p:nvSpPr>
        <p:spPr/>
        <p:txBody>
          <a:bodyPr/>
          <a:lstStyle>
            <a:lvl1pPr>
              <a:defRPr/>
            </a:lvl1pPr>
          </a:lstStyle>
          <a:p>
            <a:endParaRPr lang="en-GB" dirty="0"/>
          </a:p>
        </p:txBody>
      </p:sp>
      <p:sp>
        <p:nvSpPr>
          <p:cNvPr id="6" name="Slide Number Placeholder 5"/>
          <p:cNvSpPr>
            <a:spLocks noGrp="1"/>
          </p:cNvSpPr>
          <p:nvPr>
            <p:ph type="sldNum" sz="quarter" idx="12"/>
          </p:nvPr>
        </p:nvSpPr>
        <p:spPr/>
        <p:txBody>
          <a:bodyPr/>
          <a:lstStyle>
            <a:lvl1pPr>
              <a:defRPr/>
            </a:lvl1pPr>
          </a:lstStyle>
          <a:p>
            <a:fld id="{10AD8A0A-4898-40BF-9009-4DA7E611EAC1}" type="slidenum">
              <a:rPr lang="en-GB"/>
              <a:pPr/>
              <a:t>‹#›</a:t>
            </a:fld>
            <a:endParaRPr lang="en-GB" dirty="0"/>
          </a:p>
        </p:txBody>
      </p:sp>
      <p:pic>
        <p:nvPicPr>
          <p:cNvPr id="7" name="Picture 5" descr="TAB_col_white_background.eps"/>
          <p:cNvPicPr>
            <a:picLocks noChangeAspect="1"/>
          </p:cNvPicPr>
          <p:nvPr userDrawn="1"/>
        </p:nvPicPr>
        <p:blipFill>
          <a:blip r:embed="rId2" cstate="print"/>
          <a:srcRect/>
          <a:stretch>
            <a:fillRect/>
          </a:stretch>
        </p:blipFill>
        <p:spPr bwMode="auto">
          <a:xfrm>
            <a:off x="523875" y="509588"/>
            <a:ext cx="1663700" cy="711200"/>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05880" y="1268760"/>
            <a:ext cx="5842992" cy="1143000"/>
          </a:xfrm>
        </p:spPr>
        <p:txBody>
          <a:bodyPr/>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95536" y="2492896"/>
            <a:ext cx="8229600" cy="3633267"/>
          </a:xfrm>
        </p:spPr>
        <p:txBody>
          <a:bodyPr/>
          <a:lstStyle>
            <a:lvl1pPr>
              <a:defRPr sz="28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p:txBody>
          <a:bodyPr/>
          <a:lstStyle>
            <a:lvl1pPr>
              <a:defRPr/>
            </a:lvl1pPr>
          </a:lstStyle>
          <a:p>
            <a:fld id="{222B6232-AB33-4513-9527-F98CEC472D23}" type="datetimeFigureOut">
              <a:rPr lang="en-GB" smtClean="0"/>
              <a:pPr/>
              <a:t>03/05/2025</a:t>
            </a:fld>
            <a:endParaRPr lang="en-GB" dirty="0"/>
          </a:p>
        </p:txBody>
      </p:sp>
      <p:sp>
        <p:nvSpPr>
          <p:cNvPr id="5" name="Footer Placeholder 4"/>
          <p:cNvSpPr>
            <a:spLocks noGrp="1"/>
          </p:cNvSpPr>
          <p:nvPr>
            <p:ph type="ftr" sz="quarter" idx="11"/>
          </p:nvPr>
        </p:nvSpPr>
        <p:spPr/>
        <p:txBody>
          <a:bodyPr/>
          <a:lstStyle>
            <a:lvl1pPr>
              <a:defRPr/>
            </a:lvl1pPr>
          </a:lstStyle>
          <a:p>
            <a:endParaRPr lang="en-GB" dirty="0"/>
          </a:p>
        </p:txBody>
      </p:sp>
      <p:sp>
        <p:nvSpPr>
          <p:cNvPr id="6" name="Slide Number Placeholder 5"/>
          <p:cNvSpPr>
            <a:spLocks noGrp="1"/>
          </p:cNvSpPr>
          <p:nvPr>
            <p:ph type="sldNum" sz="quarter" idx="12"/>
          </p:nvPr>
        </p:nvSpPr>
        <p:spPr/>
        <p:txBody>
          <a:bodyPr/>
          <a:lstStyle>
            <a:lvl1pPr>
              <a:defRPr/>
            </a:lvl1pPr>
          </a:lstStyle>
          <a:p>
            <a:fld id="{F758A139-7ABE-46A1-B082-C2C77667394C}" type="slidenum">
              <a:rPr lang="en-GB"/>
              <a:pPr/>
              <a:t>‹#›</a:t>
            </a:fld>
            <a:endParaRPr lang="en-GB" dirty="0"/>
          </a:p>
        </p:txBody>
      </p:sp>
      <p:pic>
        <p:nvPicPr>
          <p:cNvPr id="7" name="Picture 5" descr="TAB_col_white_background.eps"/>
          <p:cNvPicPr>
            <a:picLocks noChangeAspect="1"/>
          </p:cNvPicPr>
          <p:nvPr userDrawn="1"/>
        </p:nvPicPr>
        <p:blipFill>
          <a:blip r:embed="rId2" cstate="print"/>
          <a:srcRect/>
          <a:stretch>
            <a:fillRect/>
          </a:stretch>
        </p:blipFill>
        <p:spPr bwMode="auto">
          <a:xfrm>
            <a:off x="523875" y="509588"/>
            <a:ext cx="1663700" cy="711200"/>
          </a:xfrm>
          <a:prstGeom prst="rect">
            <a:avLst/>
          </a:prstGeom>
          <a:noFill/>
          <a:ln w="9525">
            <a:noFill/>
            <a:miter lim="800000"/>
            <a:headEnd/>
            <a:tailEnd/>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95536" y="4406900"/>
            <a:ext cx="7772400" cy="1362075"/>
          </a:xfrm>
        </p:spPr>
        <p:txBody>
          <a:bodyPr anchor="t"/>
          <a:lstStyle>
            <a:lvl1pPr algn="l">
              <a:defRPr sz="4000" b="1" cap="all"/>
            </a:lvl1pPr>
          </a:lstStyle>
          <a:p>
            <a:r>
              <a:rPr lang="en-US" dirty="0"/>
              <a:t>Click to edit Master title style</a:t>
            </a:r>
            <a:endParaRPr lang="en-GB" dirty="0"/>
          </a:p>
        </p:txBody>
      </p:sp>
      <p:sp>
        <p:nvSpPr>
          <p:cNvPr id="3" name="Text Placeholder 2"/>
          <p:cNvSpPr>
            <a:spLocks noGrp="1"/>
          </p:cNvSpPr>
          <p:nvPr>
            <p:ph type="body" idx="1"/>
          </p:nvPr>
        </p:nvSpPr>
        <p:spPr>
          <a:xfrm>
            <a:off x="395536"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445CD916-7149-4247-856D-87DAB39295C7}" type="datetimeFigureOut">
              <a:rPr lang="en-GB"/>
              <a:pPr/>
              <a:t>03/05/2025</a:t>
            </a:fld>
            <a:endParaRPr lang="en-GB" dirty="0"/>
          </a:p>
        </p:txBody>
      </p:sp>
      <p:sp>
        <p:nvSpPr>
          <p:cNvPr id="5" name="Footer Placeholder 4"/>
          <p:cNvSpPr>
            <a:spLocks noGrp="1"/>
          </p:cNvSpPr>
          <p:nvPr>
            <p:ph type="ftr" sz="quarter" idx="11"/>
          </p:nvPr>
        </p:nvSpPr>
        <p:spPr/>
        <p:txBody>
          <a:bodyPr/>
          <a:lstStyle>
            <a:lvl1pPr>
              <a:defRPr/>
            </a:lvl1pPr>
          </a:lstStyle>
          <a:p>
            <a:endParaRPr lang="en-GB" dirty="0"/>
          </a:p>
        </p:txBody>
      </p:sp>
      <p:sp>
        <p:nvSpPr>
          <p:cNvPr id="6" name="Slide Number Placeholder 5"/>
          <p:cNvSpPr>
            <a:spLocks noGrp="1"/>
          </p:cNvSpPr>
          <p:nvPr>
            <p:ph type="sldNum" sz="quarter" idx="12"/>
          </p:nvPr>
        </p:nvSpPr>
        <p:spPr/>
        <p:txBody>
          <a:bodyPr/>
          <a:lstStyle>
            <a:lvl1pPr>
              <a:defRPr/>
            </a:lvl1pPr>
          </a:lstStyle>
          <a:p>
            <a:fld id="{13ACF840-035C-411F-BA81-AF7A8ED78138}" type="slidenum">
              <a:rPr lang="en-GB"/>
              <a:pPr/>
              <a:t>‹#›</a:t>
            </a:fld>
            <a:endParaRPr lang="en-GB" dirty="0"/>
          </a:p>
        </p:txBody>
      </p:sp>
      <p:pic>
        <p:nvPicPr>
          <p:cNvPr id="7" name="Picture 5" descr="TAB_col_white_background.eps"/>
          <p:cNvPicPr>
            <a:picLocks noChangeAspect="1"/>
          </p:cNvPicPr>
          <p:nvPr userDrawn="1"/>
        </p:nvPicPr>
        <p:blipFill>
          <a:blip r:embed="rId2" cstate="print"/>
          <a:srcRect/>
          <a:stretch>
            <a:fillRect/>
          </a:stretch>
        </p:blipFill>
        <p:spPr bwMode="auto">
          <a:xfrm>
            <a:off x="523875" y="509588"/>
            <a:ext cx="1663700" cy="711200"/>
          </a:xfrm>
          <a:prstGeom prst="rect">
            <a:avLst/>
          </a:prstGeom>
          <a:noFill/>
          <a:ln w="9525">
            <a:noFill/>
            <a:miter lim="800000"/>
            <a:headEnd/>
            <a:tailEnd/>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05880" y="1268760"/>
            <a:ext cx="5842992" cy="1143000"/>
          </a:xfrm>
        </p:spPr>
        <p:txBody>
          <a:bodyPr/>
          <a:lstStyle>
            <a:lvl1pPr>
              <a:defRPr sz="3200"/>
            </a:lvl1pPr>
          </a:lstStyle>
          <a:p>
            <a:r>
              <a:rPr lang="en-US" dirty="0"/>
              <a:t>Click to edit Master title style</a:t>
            </a:r>
            <a:endParaRPr lang="en-GB" dirty="0"/>
          </a:p>
        </p:txBody>
      </p:sp>
      <p:sp>
        <p:nvSpPr>
          <p:cNvPr id="3" name="Content Placeholder 2"/>
          <p:cNvSpPr>
            <a:spLocks noGrp="1"/>
          </p:cNvSpPr>
          <p:nvPr>
            <p:ph sz="half" idx="1"/>
          </p:nvPr>
        </p:nvSpPr>
        <p:spPr>
          <a:xfrm>
            <a:off x="395536" y="2492896"/>
            <a:ext cx="4038600" cy="3633267"/>
          </a:xfrm>
        </p:spPr>
        <p:txBody>
          <a:bodyPr/>
          <a:lstStyle>
            <a:lvl1pPr>
              <a:defRPr sz="2800" baseline="0"/>
            </a:lvl1pPr>
            <a:lvl2pPr>
              <a:defRPr sz="2400"/>
            </a:lvl2pPr>
            <a:lvl3pPr>
              <a:defRPr sz="2400"/>
            </a:lvl3pPr>
            <a:lvl4pPr>
              <a:defRPr sz="2400"/>
            </a:lvl4pPr>
            <a:lvl5pPr>
              <a:defRPr sz="2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4586536" y="2492896"/>
            <a:ext cx="4038600" cy="3633267"/>
          </a:xfrm>
        </p:spPr>
        <p:txBody>
          <a:bodyPr/>
          <a:lstStyle>
            <a:lvl1pPr>
              <a:defRPr sz="2800"/>
            </a:lvl1pPr>
            <a:lvl2pPr>
              <a:defRPr sz="2400"/>
            </a:lvl2pPr>
            <a:lvl3pPr>
              <a:defRPr sz="2400"/>
            </a:lvl3pPr>
            <a:lvl4pPr>
              <a:defRPr sz="2400"/>
            </a:lvl4pPr>
            <a:lvl5pPr>
              <a:defRPr sz="2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3"/>
          <p:cNvSpPr>
            <a:spLocks noGrp="1"/>
          </p:cNvSpPr>
          <p:nvPr>
            <p:ph type="dt" sz="half" idx="10"/>
          </p:nvPr>
        </p:nvSpPr>
        <p:spPr/>
        <p:txBody>
          <a:bodyPr/>
          <a:lstStyle>
            <a:lvl1pPr>
              <a:defRPr/>
            </a:lvl1pPr>
          </a:lstStyle>
          <a:p>
            <a:fld id="{9FD09641-23CB-4E80-A5B0-5F03D2E94610}" type="datetimeFigureOut">
              <a:rPr lang="en-GB"/>
              <a:pPr/>
              <a:t>03/05/2025</a:t>
            </a:fld>
            <a:endParaRPr lang="en-GB" dirty="0"/>
          </a:p>
        </p:txBody>
      </p:sp>
      <p:sp>
        <p:nvSpPr>
          <p:cNvPr id="6" name="Footer Placeholder 4"/>
          <p:cNvSpPr>
            <a:spLocks noGrp="1"/>
          </p:cNvSpPr>
          <p:nvPr>
            <p:ph type="ftr" sz="quarter" idx="11"/>
          </p:nvPr>
        </p:nvSpPr>
        <p:spPr/>
        <p:txBody>
          <a:bodyPr/>
          <a:lstStyle>
            <a:lvl1pPr>
              <a:defRPr/>
            </a:lvl1pPr>
          </a:lstStyle>
          <a:p>
            <a:endParaRPr lang="en-GB" dirty="0"/>
          </a:p>
        </p:txBody>
      </p:sp>
      <p:sp>
        <p:nvSpPr>
          <p:cNvPr id="7" name="Slide Number Placeholder 5"/>
          <p:cNvSpPr>
            <a:spLocks noGrp="1"/>
          </p:cNvSpPr>
          <p:nvPr>
            <p:ph type="sldNum" sz="quarter" idx="12"/>
          </p:nvPr>
        </p:nvSpPr>
        <p:spPr/>
        <p:txBody>
          <a:bodyPr/>
          <a:lstStyle>
            <a:lvl1pPr>
              <a:defRPr/>
            </a:lvl1pPr>
          </a:lstStyle>
          <a:p>
            <a:fld id="{EF7FA264-F771-4264-8DF0-4BB7F0DA3C69}" type="slidenum">
              <a:rPr lang="en-GB"/>
              <a:pPr/>
              <a:t>‹#›</a:t>
            </a:fld>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05880" y="1268760"/>
            <a:ext cx="5842992" cy="1143000"/>
          </a:xfrm>
        </p:spPr>
        <p:txBody>
          <a:bodyPr/>
          <a:lstStyle>
            <a:lvl1pPr>
              <a:defRPr sz="2800"/>
            </a:lvl1pPr>
          </a:lstStyle>
          <a:p>
            <a:r>
              <a:rPr lang="en-US" dirty="0"/>
              <a:t>Click to edit Master title style</a:t>
            </a:r>
            <a:endParaRPr lang="en-GB" dirty="0"/>
          </a:p>
        </p:txBody>
      </p:sp>
      <p:sp>
        <p:nvSpPr>
          <p:cNvPr id="3" name="Text Placeholder 2"/>
          <p:cNvSpPr>
            <a:spLocks noGrp="1"/>
          </p:cNvSpPr>
          <p:nvPr>
            <p:ph type="body" idx="1"/>
          </p:nvPr>
        </p:nvSpPr>
        <p:spPr>
          <a:xfrm>
            <a:off x="405880" y="2348880"/>
            <a:ext cx="4040188" cy="63976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395536" y="3068959"/>
            <a:ext cx="4040188" cy="3057203"/>
          </a:xfrm>
        </p:spPr>
        <p:txBody>
          <a:bodyPr/>
          <a:lstStyle>
            <a:lvl1pPr>
              <a:defRPr sz="2400"/>
            </a:lvl1pPr>
            <a:lvl2pPr>
              <a:defRPr sz="2400"/>
            </a:lvl2pPr>
            <a:lvl3pPr>
              <a:defRPr sz="2400"/>
            </a:lvl3pPr>
            <a:lvl4pPr>
              <a:defRPr sz="2400"/>
            </a:lvl4pPr>
            <a:lvl5pPr>
              <a:defRPr sz="2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4582344" y="2348880"/>
            <a:ext cx="4041775" cy="63976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83361" y="3068960"/>
            <a:ext cx="4041775" cy="3057202"/>
          </a:xfrm>
        </p:spPr>
        <p:txBody>
          <a:bodyPr/>
          <a:lstStyle>
            <a:lvl1pPr>
              <a:defRPr sz="2400"/>
            </a:lvl1pPr>
            <a:lvl2pPr>
              <a:defRPr sz="2400"/>
            </a:lvl2pPr>
            <a:lvl3pPr>
              <a:defRPr sz="2400"/>
            </a:lvl3pPr>
            <a:lvl4pPr>
              <a:defRPr sz="2400"/>
            </a:lvl4pPr>
            <a:lvl5pPr>
              <a:defRPr sz="2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Date Placeholder 3"/>
          <p:cNvSpPr>
            <a:spLocks noGrp="1"/>
          </p:cNvSpPr>
          <p:nvPr>
            <p:ph type="dt" sz="half" idx="10"/>
          </p:nvPr>
        </p:nvSpPr>
        <p:spPr/>
        <p:txBody>
          <a:bodyPr/>
          <a:lstStyle>
            <a:lvl1pPr>
              <a:defRPr/>
            </a:lvl1pPr>
          </a:lstStyle>
          <a:p>
            <a:fld id="{3A9A4E03-F40B-4399-AC2E-A4C6E9D600B3}" type="datetimeFigureOut">
              <a:rPr lang="en-GB"/>
              <a:pPr/>
              <a:t>03/05/2025</a:t>
            </a:fld>
            <a:endParaRPr lang="en-GB" dirty="0"/>
          </a:p>
        </p:txBody>
      </p:sp>
      <p:sp>
        <p:nvSpPr>
          <p:cNvPr id="8" name="Footer Placeholder 4"/>
          <p:cNvSpPr>
            <a:spLocks noGrp="1"/>
          </p:cNvSpPr>
          <p:nvPr>
            <p:ph type="ftr" sz="quarter" idx="11"/>
          </p:nvPr>
        </p:nvSpPr>
        <p:spPr/>
        <p:txBody>
          <a:bodyPr/>
          <a:lstStyle>
            <a:lvl1pPr>
              <a:defRPr/>
            </a:lvl1pPr>
          </a:lstStyle>
          <a:p>
            <a:endParaRPr lang="en-GB" dirty="0"/>
          </a:p>
        </p:txBody>
      </p:sp>
      <p:sp>
        <p:nvSpPr>
          <p:cNvPr id="9" name="Slide Number Placeholder 5"/>
          <p:cNvSpPr>
            <a:spLocks noGrp="1"/>
          </p:cNvSpPr>
          <p:nvPr>
            <p:ph type="sldNum" sz="quarter" idx="12"/>
          </p:nvPr>
        </p:nvSpPr>
        <p:spPr/>
        <p:txBody>
          <a:bodyPr/>
          <a:lstStyle>
            <a:lvl1pPr>
              <a:defRPr/>
            </a:lvl1pPr>
          </a:lstStyle>
          <a:p>
            <a:fld id="{8692BDDC-0BFC-44A0-A4BA-47C3E99EB1AA}" type="slidenum">
              <a:rPr lang="en-GB"/>
              <a:pPr/>
              <a:t>‹#›</a:t>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endParaRPr lang="en-GB" dirty="0"/>
          </a:p>
        </p:txBody>
      </p:sp>
      <p:sp>
        <p:nvSpPr>
          <p:cNvPr id="3" name="Date Placeholder 3"/>
          <p:cNvSpPr>
            <a:spLocks noGrp="1"/>
          </p:cNvSpPr>
          <p:nvPr>
            <p:ph type="dt" sz="half" idx="10"/>
          </p:nvPr>
        </p:nvSpPr>
        <p:spPr/>
        <p:txBody>
          <a:bodyPr/>
          <a:lstStyle>
            <a:lvl1pPr>
              <a:defRPr/>
            </a:lvl1pPr>
          </a:lstStyle>
          <a:p>
            <a:fld id="{CFE8F7DA-80EC-4CF7-AB7B-078F533B953B}" type="datetimeFigureOut">
              <a:rPr lang="en-GB"/>
              <a:pPr/>
              <a:t>03/05/2025</a:t>
            </a:fld>
            <a:endParaRPr lang="en-GB" dirty="0"/>
          </a:p>
        </p:txBody>
      </p:sp>
      <p:sp>
        <p:nvSpPr>
          <p:cNvPr id="4" name="Footer Placeholder 4"/>
          <p:cNvSpPr>
            <a:spLocks noGrp="1"/>
          </p:cNvSpPr>
          <p:nvPr>
            <p:ph type="ftr" sz="quarter" idx="11"/>
          </p:nvPr>
        </p:nvSpPr>
        <p:spPr/>
        <p:txBody>
          <a:bodyPr/>
          <a:lstStyle>
            <a:lvl1pPr>
              <a:defRPr/>
            </a:lvl1pPr>
          </a:lstStyle>
          <a:p>
            <a:endParaRPr lang="en-GB" dirty="0"/>
          </a:p>
        </p:txBody>
      </p:sp>
      <p:sp>
        <p:nvSpPr>
          <p:cNvPr id="5" name="Slide Number Placeholder 5"/>
          <p:cNvSpPr>
            <a:spLocks noGrp="1"/>
          </p:cNvSpPr>
          <p:nvPr>
            <p:ph type="sldNum" sz="quarter" idx="12"/>
          </p:nvPr>
        </p:nvSpPr>
        <p:spPr/>
        <p:txBody>
          <a:bodyPr/>
          <a:lstStyle>
            <a:lvl1pPr>
              <a:defRPr/>
            </a:lvl1pPr>
          </a:lstStyle>
          <a:p>
            <a:fld id="{F74E6293-7DA2-4D9E-8605-5715E69AF2C7}" type="slidenum">
              <a:rPr lang="en-GB"/>
              <a:pPr/>
              <a:t>‹#›</a:t>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B1AE269B-21F6-4A71-848B-6E891C314B78}" type="datetimeFigureOut">
              <a:rPr lang="en-GB"/>
              <a:pPr/>
              <a:t>03/05/2025</a:t>
            </a:fld>
            <a:endParaRPr lang="en-GB" dirty="0"/>
          </a:p>
        </p:txBody>
      </p:sp>
      <p:sp>
        <p:nvSpPr>
          <p:cNvPr id="3" name="Footer Placeholder 4"/>
          <p:cNvSpPr>
            <a:spLocks noGrp="1"/>
          </p:cNvSpPr>
          <p:nvPr>
            <p:ph type="ftr" sz="quarter" idx="11"/>
          </p:nvPr>
        </p:nvSpPr>
        <p:spPr/>
        <p:txBody>
          <a:bodyPr/>
          <a:lstStyle>
            <a:lvl1pPr>
              <a:defRPr/>
            </a:lvl1pPr>
          </a:lstStyle>
          <a:p>
            <a:endParaRPr lang="en-GB" dirty="0"/>
          </a:p>
        </p:txBody>
      </p:sp>
      <p:sp>
        <p:nvSpPr>
          <p:cNvPr id="4" name="Slide Number Placeholder 5"/>
          <p:cNvSpPr>
            <a:spLocks noGrp="1"/>
          </p:cNvSpPr>
          <p:nvPr>
            <p:ph type="sldNum" sz="quarter" idx="12"/>
          </p:nvPr>
        </p:nvSpPr>
        <p:spPr/>
        <p:txBody>
          <a:bodyPr/>
          <a:lstStyle>
            <a:lvl1pPr>
              <a:defRPr/>
            </a:lvl1pPr>
          </a:lstStyle>
          <a:p>
            <a:fld id="{32789173-A1D5-421E-B384-2A426DF314C2}" type="slidenum">
              <a:rPr lang="en-GB"/>
              <a:pPr/>
              <a:t>‹#›</a:t>
            </a:fld>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5536" y="1186830"/>
            <a:ext cx="3008313" cy="1162050"/>
          </a:xfrm>
        </p:spPr>
        <p:txBody>
          <a:bodyPr anchor="b"/>
          <a:lstStyle>
            <a:lvl1pPr algn="l">
              <a:defRPr sz="3200" b="1"/>
            </a:lvl1pPr>
          </a:lstStyle>
          <a:p>
            <a:r>
              <a:rPr lang="en-US" dirty="0"/>
              <a:t>Click to edit Master title style</a:t>
            </a:r>
            <a:endParaRPr lang="en-GB" dirty="0"/>
          </a:p>
        </p:txBody>
      </p:sp>
      <p:sp>
        <p:nvSpPr>
          <p:cNvPr id="3" name="Content Placeholder 2"/>
          <p:cNvSpPr>
            <a:spLocks noGrp="1"/>
          </p:cNvSpPr>
          <p:nvPr>
            <p:ph idx="1"/>
          </p:nvPr>
        </p:nvSpPr>
        <p:spPr>
          <a:xfrm>
            <a:off x="3575050" y="1196752"/>
            <a:ext cx="5111750" cy="492941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2420888"/>
            <a:ext cx="3008313" cy="3705275"/>
          </a:xfrm>
        </p:spPr>
        <p:txBody>
          <a:bodyPr/>
          <a:lstStyle>
            <a:lvl1pPr marL="0" indent="0">
              <a:buNone/>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3"/>
          <p:cNvSpPr>
            <a:spLocks noGrp="1"/>
          </p:cNvSpPr>
          <p:nvPr>
            <p:ph type="dt" sz="half" idx="10"/>
          </p:nvPr>
        </p:nvSpPr>
        <p:spPr/>
        <p:txBody>
          <a:bodyPr/>
          <a:lstStyle>
            <a:lvl1pPr>
              <a:defRPr/>
            </a:lvl1pPr>
          </a:lstStyle>
          <a:p>
            <a:fld id="{B89648B1-3911-4AC2-8E3A-DF4A70CC86E7}" type="datetimeFigureOut">
              <a:rPr lang="en-GB"/>
              <a:pPr/>
              <a:t>03/05/2025</a:t>
            </a:fld>
            <a:endParaRPr lang="en-GB" dirty="0"/>
          </a:p>
        </p:txBody>
      </p:sp>
      <p:sp>
        <p:nvSpPr>
          <p:cNvPr id="6" name="Footer Placeholder 4"/>
          <p:cNvSpPr>
            <a:spLocks noGrp="1"/>
          </p:cNvSpPr>
          <p:nvPr>
            <p:ph type="ftr" sz="quarter" idx="11"/>
          </p:nvPr>
        </p:nvSpPr>
        <p:spPr/>
        <p:txBody>
          <a:bodyPr/>
          <a:lstStyle>
            <a:lvl1pPr>
              <a:defRPr/>
            </a:lvl1pPr>
          </a:lstStyle>
          <a:p>
            <a:endParaRPr lang="en-GB" dirty="0"/>
          </a:p>
        </p:txBody>
      </p:sp>
      <p:sp>
        <p:nvSpPr>
          <p:cNvPr id="7" name="Slide Number Placeholder 5"/>
          <p:cNvSpPr>
            <a:spLocks noGrp="1"/>
          </p:cNvSpPr>
          <p:nvPr>
            <p:ph type="sldNum" sz="quarter" idx="12"/>
          </p:nvPr>
        </p:nvSpPr>
        <p:spPr/>
        <p:txBody>
          <a:bodyPr/>
          <a:lstStyle>
            <a:lvl1pPr>
              <a:defRPr/>
            </a:lvl1pPr>
          </a:lstStyle>
          <a:p>
            <a:fld id="{C853D388-5704-4C64-A883-D899E8570667}" type="slidenum">
              <a:rPr lang="en-GB"/>
              <a:pPr/>
              <a:t>‹#›</a:t>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62AAA9A3-945F-42AF-BCAE-8459AEA58868}" type="datetimeFigureOut">
              <a:rPr lang="en-GB"/>
              <a:pPr/>
              <a:t>03/05/2025</a:t>
            </a:fld>
            <a:endParaRPr lang="en-GB" dirty="0"/>
          </a:p>
        </p:txBody>
      </p:sp>
      <p:sp>
        <p:nvSpPr>
          <p:cNvPr id="6" name="Footer Placeholder 4"/>
          <p:cNvSpPr>
            <a:spLocks noGrp="1"/>
          </p:cNvSpPr>
          <p:nvPr>
            <p:ph type="ftr" sz="quarter" idx="11"/>
          </p:nvPr>
        </p:nvSpPr>
        <p:spPr/>
        <p:txBody>
          <a:bodyPr/>
          <a:lstStyle>
            <a:lvl1pPr>
              <a:defRPr/>
            </a:lvl1pPr>
          </a:lstStyle>
          <a:p>
            <a:endParaRPr lang="en-GB" dirty="0"/>
          </a:p>
        </p:txBody>
      </p:sp>
      <p:sp>
        <p:nvSpPr>
          <p:cNvPr id="7" name="Slide Number Placeholder 5"/>
          <p:cNvSpPr>
            <a:spLocks noGrp="1"/>
          </p:cNvSpPr>
          <p:nvPr>
            <p:ph type="sldNum" sz="quarter" idx="12"/>
          </p:nvPr>
        </p:nvSpPr>
        <p:spPr/>
        <p:txBody>
          <a:bodyPr/>
          <a:lstStyle>
            <a:lvl1pPr>
              <a:defRPr/>
            </a:lvl1pPr>
          </a:lstStyle>
          <a:p>
            <a:fld id="{5E74E2F5-7E8D-47B8-82FB-3832A72B6BDB}" type="slidenum">
              <a:rPr lang="en-GB"/>
              <a:pPr/>
              <a:t>‹#›</a:t>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endParaRPr lang="en-GB" dirty="0"/>
          </a:p>
        </p:txBody>
      </p:sp>
      <p:sp>
        <p:nvSpPr>
          <p:cNvPr id="3" name="Vertical Text Placeholder 2"/>
          <p:cNvSpPr>
            <a:spLocks noGrp="1"/>
          </p:cNvSpPr>
          <p:nvPr>
            <p:ph type="body" orient="vert" idx="1"/>
          </p:nvPr>
        </p:nvSpPr>
        <p:spPr/>
        <p:txBody>
          <a:bodyPr vert="eaVert"/>
          <a:lstStyle>
            <a:lvl1pPr>
              <a:defRPr sz="3200"/>
            </a:lvl1pPr>
            <a:lvl2pPr>
              <a:defRPr sz="2800"/>
            </a:lvl2pPr>
            <a:lvl3pPr>
              <a:defRPr sz="2800"/>
            </a:lvl3pPr>
            <a:lvl4pPr>
              <a:defRPr sz="2800"/>
            </a:lvl4pPr>
            <a:lvl5pPr>
              <a:defRPr sz="2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p:txBody>
          <a:bodyPr/>
          <a:lstStyle>
            <a:lvl1pPr>
              <a:defRPr/>
            </a:lvl1pPr>
          </a:lstStyle>
          <a:p>
            <a:fld id="{98FF8105-8845-4543-9ED8-9E57E8E42CB7}" type="datetimeFigureOut">
              <a:rPr lang="en-GB"/>
              <a:pPr/>
              <a:t>03/05/2025</a:t>
            </a:fld>
            <a:endParaRPr lang="en-GB" dirty="0"/>
          </a:p>
        </p:txBody>
      </p:sp>
      <p:sp>
        <p:nvSpPr>
          <p:cNvPr id="5" name="Footer Placeholder 4"/>
          <p:cNvSpPr>
            <a:spLocks noGrp="1"/>
          </p:cNvSpPr>
          <p:nvPr>
            <p:ph type="ftr" sz="quarter" idx="11"/>
          </p:nvPr>
        </p:nvSpPr>
        <p:spPr/>
        <p:txBody>
          <a:bodyPr/>
          <a:lstStyle>
            <a:lvl1pPr>
              <a:defRPr/>
            </a:lvl1pPr>
          </a:lstStyle>
          <a:p>
            <a:endParaRPr lang="en-GB" dirty="0"/>
          </a:p>
        </p:txBody>
      </p:sp>
      <p:sp>
        <p:nvSpPr>
          <p:cNvPr id="6" name="Slide Number Placeholder 5"/>
          <p:cNvSpPr>
            <a:spLocks noGrp="1"/>
          </p:cNvSpPr>
          <p:nvPr>
            <p:ph type="sldNum" sz="quarter" idx="12"/>
          </p:nvPr>
        </p:nvSpPr>
        <p:spPr/>
        <p:txBody>
          <a:bodyPr/>
          <a:lstStyle>
            <a:lvl1pPr>
              <a:defRPr/>
            </a:lvl1pPr>
          </a:lstStyle>
          <a:p>
            <a:fld id="{58FF8E4D-CDF4-4B1F-BD52-35BFB528DB87}" type="slidenum">
              <a:rPr lang="en-GB"/>
              <a:pPr/>
              <a:t>‹#›</a:t>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56792"/>
            <a:ext cx="2057400" cy="4569371"/>
          </a:xfrm>
        </p:spPr>
        <p:txBody>
          <a:bodyPr vert="eaVert"/>
          <a:lstStyle>
            <a:lvl1pPr>
              <a:defRPr sz="3200"/>
            </a:lvl1pPr>
          </a:lstStyle>
          <a:p>
            <a:r>
              <a:rPr lang="en-US" dirty="0"/>
              <a:t>Click to edit Master title style</a:t>
            </a:r>
            <a:endParaRPr lang="en-GB" dirty="0"/>
          </a:p>
        </p:txBody>
      </p:sp>
      <p:sp>
        <p:nvSpPr>
          <p:cNvPr id="3" name="Vertical Text Placeholder 2"/>
          <p:cNvSpPr>
            <a:spLocks noGrp="1"/>
          </p:cNvSpPr>
          <p:nvPr>
            <p:ph type="body" orient="vert" idx="1"/>
          </p:nvPr>
        </p:nvSpPr>
        <p:spPr>
          <a:xfrm>
            <a:off x="457200" y="1556792"/>
            <a:ext cx="6019800" cy="4569371"/>
          </a:xfrm>
        </p:spPr>
        <p:txBody>
          <a:bodyPr vert="eaVert"/>
          <a:lstStyle>
            <a:lvl1pPr>
              <a:defRPr sz="28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p:txBody>
          <a:bodyPr/>
          <a:lstStyle>
            <a:lvl1pPr>
              <a:defRPr/>
            </a:lvl1pPr>
          </a:lstStyle>
          <a:p>
            <a:fld id="{08976883-B614-42E6-9595-363FA777B038}" type="datetimeFigureOut">
              <a:rPr lang="en-GB"/>
              <a:pPr/>
              <a:t>03/05/2025</a:t>
            </a:fld>
            <a:endParaRPr lang="en-GB" dirty="0"/>
          </a:p>
        </p:txBody>
      </p:sp>
      <p:sp>
        <p:nvSpPr>
          <p:cNvPr id="5" name="Footer Placeholder 4"/>
          <p:cNvSpPr>
            <a:spLocks noGrp="1"/>
          </p:cNvSpPr>
          <p:nvPr>
            <p:ph type="ftr" sz="quarter" idx="11"/>
          </p:nvPr>
        </p:nvSpPr>
        <p:spPr/>
        <p:txBody>
          <a:bodyPr/>
          <a:lstStyle>
            <a:lvl1pPr>
              <a:defRPr/>
            </a:lvl1pPr>
          </a:lstStyle>
          <a:p>
            <a:endParaRPr lang="en-GB" dirty="0"/>
          </a:p>
        </p:txBody>
      </p:sp>
      <p:sp>
        <p:nvSpPr>
          <p:cNvPr id="6" name="Slide Number Placeholder 5"/>
          <p:cNvSpPr>
            <a:spLocks noGrp="1"/>
          </p:cNvSpPr>
          <p:nvPr>
            <p:ph type="sldNum" sz="quarter" idx="12"/>
          </p:nvPr>
        </p:nvSpPr>
        <p:spPr/>
        <p:txBody>
          <a:bodyPr/>
          <a:lstStyle>
            <a:lvl1pPr>
              <a:defRPr/>
            </a:lvl1pPr>
          </a:lstStyle>
          <a:p>
            <a:fld id="{86915344-E335-44E9-ACDC-CB4826450486}" type="slidenum">
              <a:rPr lang="en-GB"/>
              <a:pPr/>
              <a:t>‹#›</a:t>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67544" y="1268760"/>
            <a:ext cx="584299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endParaRPr lang="en-GB" dirty="0"/>
          </a:p>
        </p:txBody>
      </p:sp>
      <p:sp>
        <p:nvSpPr>
          <p:cNvPr id="1027" name="Text Placeholder 2"/>
          <p:cNvSpPr>
            <a:spLocks noGrp="1"/>
          </p:cNvSpPr>
          <p:nvPr>
            <p:ph type="body" idx="1"/>
          </p:nvPr>
        </p:nvSpPr>
        <p:spPr bwMode="auto">
          <a:xfrm>
            <a:off x="457200" y="2492896"/>
            <a:ext cx="8229600" cy="363326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itchFamily="34" charset="0"/>
              </a:defRPr>
            </a:lvl1pPr>
          </a:lstStyle>
          <a:p>
            <a:fld id="{456A7D1D-6254-4063-974C-6A2AE04E4B91}" type="datetimeFigureOut">
              <a:rPr lang="en-GB"/>
              <a:pPr/>
              <a:t>03/05/2025</a:t>
            </a:fld>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bri" pitchFamily="34" charset="0"/>
              </a:defRPr>
            </a:lvl1pPr>
          </a:lstStyle>
          <a:p>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itchFamily="34" charset="0"/>
              </a:defRPr>
            </a:lvl1pPr>
          </a:lstStyle>
          <a:p>
            <a:fld id="{26878614-5F41-4702-8E44-D9C8B2874F5D}" type="slidenum">
              <a:rPr lang="en-GB"/>
              <a:pPr/>
              <a:t>‹#›</a:t>
            </a:fld>
            <a:endParaRPr lang="en-GB" dirty="0"/>
          </a:p>
        </p:txBody>
      </p:sp>
      <p:pic>
        <p:nvPicPr>
          <p:cNvPr id="7" name="Picture 5" descr="TAB_col_white_background.eps"/>
          <p:cNvPicPr>
            <a:picLocks noChangeAspect="1"/>
          </p:cNvPicPr>
          <p:nvPr userDrawn="1"/>
        </p:nvPicPr>
        <p:blipFill>
          <a:blip r:embed="rId13" cstate="print"/>
          <a:srcRect/>
          <a:stretch>
            <a:fillRect/>
          </a:stretch>
        </p:blipFill>
        <p:spPr bwMode="auto">
          <a:xfrm>
            <a:off x="523875" y="509588"/>
            <a:ext cx="1663700" cy="7112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spcBef>
          <a:spcPct val="0"/>
        </a:spcBef>
        <a:spcAft>
          <a:spcPct val="0"/>
        </a:spcAft>
        <a:defRPr sz="3200" b="1" kern="1200">
          <a:solidFill>
            <a:schemeClr val="tx1"/>
          </a:solidFill>
          <a:latin typeface="Arial" pitchFamily="34" charset="0"/>
          <a:ea typeface="+mj-ea"/>
          <a:cs typeface="Arial" pitchFamily="34" charset="0"/>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6"/>
          <p:cNvSpPr>
            <a:spLocks noChangeArrowheads="1"/>
          </p:cNvSpPr>
          <p:nvPr/>
        </p:nvSpPr>
        <p:spPr bwMode="auto">
          <a:xfrm>
            <a:off x="406400" y="1625600"/>
            <a:ext cx="7549976"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None/>
            </a:pPr>
            <a:r>
              <a:rPr lang="en-GB" sz="2800" b="1" i="0" dirty="0">
                <a:solidFill>
                  <a:srgbClr val="7030A0"/>
                </a:solidFill>
                <a:effectLst/>
                <a:latin typeface="Segoe UI" panose="020B0502040204020203" pitchFamily="34" charset="0"/>
              </a:rPr>
              <a:t>UNIVERSITY OF MANCHESTER</a:t>
            </a:r>
          </a:p>
          <a:p>
            <a:r>
              <a:rPr lang="en-GB" sz="2800" b="1" i="0" dirty="0">
                <a:solidFill>
                  <a:srgbClr val="7030A0"/>
                </a:solidFill>
                <a:effectLst/>
                <a:latin typeface="Segoe UI" panose="020B0502040204020203" pitchFamily="34" charset="0"/>
              </a:rPr>
              <a:t>Performance Analysis &amp; Russell Group Comparison</a:t>
            </a:r>
          </a:p>
          <a:p>
            <a:pPr>
              <a:defRPr/>
            </a:pPr>
            <a:endParaRPr lang="en-US" sz="3000" dirty="0">
              <a:solidFill>
                <a:schemeClr val="tx1">
                  <a:lumMod val="65000"/>
                  <a:lumOff val="35000"/>
                </a:schemeClr>
              </a:solidFill>
              <a:latin typeface="Arial"/>
              <a:cs typeface="Arial"/>
            </a:endParaRPr>
          </a:p>
        </p:txBody>
      </p:sp>
      <p:cxnSp>
        <p:nvCxnSpPr>
          <p:cNvPr id="10" name="Straight Connector 9"/>
          <p:cNvCxnSpPr>
            <a:cxnSpLocks noChangeShapeType="1"/>
          </p:cNvCxnSpPr>
          <p:nvPr/>
        </p:nvCxnSpPr>
        <p:spPr bwMode="auto">
          <a:xfrm>
            <a:off x="523875" y="3212976"/>
            <a:ext cx="7013575" cy="0"/>
          </a:xfrm>
          <a:prstGeom prst="line">
            <a:avLst/>
          </a:prstGeom>
          <a:noFill/>
          <a:ln w="25400">
            <a:solidFill>
              <a:srgbClr val="660066"/>
            </a:solidFill>
            <a:prstDash val="dot"/>
            <a:round/>
            <a:headEnd/>
            <a:tailEnd/>
          </a:ln>
          <a:effectLst>
            <a:outerShdw blurRad="63500" dist="20000" dir="5400000" rotWithShape="0">
              <a:srgbClr val="000000">
                <a:alpha val="37999"/>
              </a:srgbClr>
            </a:outerShdw>
          </a:effectLst>
          <a:extLst>
            <a:ext uri="{909E8E84-426E-40DD-AFC4-6F175D3DCCD1}">
              <a14:hiddenFill xmlns:a14="http://schemas.microsoft.com/office/drawing/2010/main">
                <a:noFill/>
              </a14:hiddenFill>
            </a:ext>
          </a:extLst>
        </p:spPr>
      </p:cxnSp>
      <p:pic>
        <p:nvPicPr>
          <p:cNvPr id="15364" name="Picture 2" descr="TAB_col_white_background.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3875" y="509588"/>
            <a:ext cx="1663700"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6689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7030A0"/>
                </a:solidFill>
              </a:rPr>
              <a:t>Outline</a:t>
            </a:r>
          </a:p>
        </p:txBody>
      </p:sp>
      <p:sp>
        <p:nvSpPr>
          <p:cNvPr id="3" name="Content Placeholder 2"/>
          <p:cNvSpPr>
            <a:spLocks noGrp="1"/>
          </p:cNvSpPr>
          <p:nvPr>
            <p:ph idx="1"/>
          </p:nvPr>
        </p:nvSpPr>
        <p:spPr>
          <a:xfrm>
            <a:off x="3206593" y="963182"/>
            <a:ext cx="5929808" cy="3633267"/>
          </a:xfrm>
        </p:spPr>
        <p:txBody>
          <a:bodyPr/>
          <a:lstStyle/>
          <a:p>
            <a:pPr>
              <a:buNone/>
            </a:pPr>
            <a:endParaRPr lang="en-GB" sz="2000" dirty="0">
              <a:solidFill>
                <a:srgbClr val="7030A0"/>
              </a:solidFill>
            </a:endParaRPr>
          </a:p>
          <a:p>
            <a:pPr>
              <a:buFont typeface="+mj-lt"/>
              <a:buAutoNum type="arabicPeriod"/>
            </a:pPr>
            <a:r>
              <a:rPr lang="en-GB" sz="2000" b="1" dirty="0">
                <a:solidFill>
                  <a:srgbClr val="7030A0"/>
                </a:solidFill>
              </a:rPr>
              <a:t>Basic Metrics</a:t>
            </a:r>
            <a:r>
              <a:rPr lang="en-GB" sz="2000" dirty="0">
                <a:solidFill>
                  <a:srgbClr val="7030A0"/>
                </a:solidFill>
              </a:rPr>
              <a:t> for University of Manchester, including resource efficiency, student composition, and income source analysis</a:t>
            </a:r>
          </a:p>
          <a:p>
            <a:pPr>
              <a:buFont typeface="+mj-lt"/>
              <a:buAutoNum type="arabicPeriod"/>
            </a:pPr>
            <a:r>
              <a:rPr lang="en-GB" sz="2000" b="1" dirty="0">
                <a:solidFill>
                  <a:srgbClr val="7030A0"/>
                </a:solidFill>
              </a:rPr>
              <a:t>Russell Group Comparison</a:t>
            </a:r>
            <a:r>
              <a:rPr lang="en-GB" sz="2000" dirty="0">
                <a:solidFill>
                  <a:srgbClr val="7030A0"/>
                </a:solidFill>
              </a:rPr>
              <a:t> metrics showing UoM's position within the group</a:t>
            </a:r>
          </a:p>
          <a:p>
            <a:pPr>
              <a:buFont typeface="+mj-lt"/>
              <a:buAutoNum type="arabicPeriod"/>
            </a:pPr>
            <a:r>
              <a:rPr lang="en-GB" sz="2000" b="1" dirty="0">
                <a:solidFill>
                  <a:srgbClr val="7030A0"/>
                </a:solidFill>
              </a:rPr>
              <a:t>Key Insights</a:t>
            </a:r>
            <a:r>
              <a:rPr lang="en-GB" sz="2000" dirty="0">
                <a:solidFill>
                  <a:srgbClr val="7030A0"/>
                </a:solidFill>
              </a:rPr>
              <a:t> summarising the most significant findings</a:t>
            </a:r>
          </a:p>
          <a:p>
            <a:pPr marL="0" indent="0">
              <a:buNone/>
            </a:pPr>
            <a:endParaRPr lang="en-GB" sz="2000" dirty="0">
              <a:solidFill>
                <a:srgbClr val="7030A0"/>
              </a:solidFill>
            </a:endParaRPr>
          </a:p>
        </p:txBody>
      </p:sp>
      <p:pic>
        <p:nvPicPr>
          <p:cNvPr id="4" name="Picture 3" descr="UoM-20140326_DSCF2448.jpg"/>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3419872" y="4581128"/>
            <a:ext cx="2520280" cy="1890210"/>
          </a:xfrm>
          <a:prstGeom prst="rect">
            <a:avLst/>
          </a:prstGeom>
        </p:spPr>
      </p:pic>
      <p:pic>
        <p:nvPicPr>
          <p:cNvPr id="6" name="Picture 5" descr="AerialView1.jp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39552" y="4581128"/>
            <a:ext cx="2496278" cy="1872208"/>
          </a:xfrm>
          <a:prstGeom prst="rect">
            <a:avLst/>
          </a:prstGeom>
        </p:spPr>
      </p:pic>
      <p:pic>
        <p:nvPicPr>
          <p:cNvPr id="7" name="Picture 6" descr="Broaden Your Studies 4 NEW.jpg"/>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6372200" y="4581128"/>
            <a:ext cx="2520280" cy="1890210"/>
          </a:xfrm>
          <a:prstGeom prst="rect">
            <a:avLst/>
          </a:prstGeom>
        </p:spPr>
      </p:pic>
    </p:spTree>
    <p:extLst>
      <p:ext uri="{BB962C8B-B14F-4D97-AF65-F5344CB8AC3E}">
        <p14:creationId xmlns:p14="http://schemas.microsoft.com/office/powerpoint/2010/main" val="2243643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862B8-FCAD-479C-6D4A-DBA003FDE8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9B39B4-BC8E-2FCD-0D18-D8EEA2964CF9}"/>
              </a:ext>
            </a:extLst>
          </p:cNvPr>
          <p:cNvSpPr>
            <a:spLocks noGrp="1"/>
          </p:cNvSpPr>
          <p:nvPr>
            <p:ph type="title"/>
          </p:nvPr>
        </p:nvSpPr>
        <p:spPr/>
        <p:txBody>
          <a:bodyPr/>
          <a:lstStyle/>
          <a:p>
            <a:r>
              <a:rPr lang="en-US" dirty="0">
                <a:solidFill>
                  <a:srgbClr val="7030A0"/>
                </a:solidFill>
              </a:rPr>
              <a:t>UoM: Key Figures</a:t>
            </a:r>
          </a:p>
        </p:txBody>
      </p:sp>
      <p:sp>
        <p:nvSpPr>
          <p:cNvPr id="8" name="TextBox 7">
            <a:extLst>
              <a:ext uri="{FF2B5EF4-FFF2-40B4-BE49-F238E27FC236}">
                <a16:creationId xmlns:a16="http://schemas.microsoft.com/office/drawing/2014/main" id="{803BB18D-D682-DAE9-0F15-82FF67A9AE46}"/>
              </a:ext>
            </a:extLst>
          </p:cNvPr>
          <p:cNvSpPr txBox="1"/>
          <p:nvPr/>
        </p:nvSpPr>
        <p:spPr>
          <a:xfrm>
            <a:off x="539552" y="5949280"/>
            <a:ext cx="7848872" cy="646331"/>
          </a:xfrm>
          <a:prstGeom prst="rect">
            <a:avLst/>
          </a:prstGeom>
          <a:noFill/>
        </p:spPr>
        <p:txBody>
          <a:bodyPr wrap="square">
            <a:spAutoFit/>
          </a:bodyPr>
          <a:lstStyle/>
          <a:p>
            <a:r>
              <a:rPr lang="en-GB" b="1" i="0" dirty="0">
                <a:solidFill>
                  <a:srgbClr val="7030A0"/>
                </a:solidFill>
                <a:effectLst/>
                <a:latin typeface="Segoe UI" panose="020B0502040204020203" pitchFamily="34" charset="0"/>
              </a:rPr>
              <a:t>Key Takeaway:</a:t>
            </a:r>
            <a:r>
              <a:rPr lang="en-GB" b="0" i="0" dirty="0">
                <a:solidFill>
                  <a:srgbClr val="7030A0"/>
                </a:solidFill>
                <a:effectLst/>
                <a:latin typeface="Segoe UI" panose="020B0502040204020203" pitchFamily="34" charset="0"/>
              </a:rPr>
              <a:t> UoM exceeds Russell Group averages in size, staffing, and income, showing particular strength in research funding.</a:t>
            </a:r>
            <a:endParaRPr lang="en-US" dirty="0">
              <a:solidFill>
                <a:srgbClr val="7030A0"/>
              </a:solidFill>
            </a:endParaRPr>
          </a:p>
        </p:txBody>
      </p:sp>
      <p:pic>
        <p:nvPicPr>
          <p:cNvPr id="10" name="Picture 9" descr="A screenshot of a cellphone&#10;&#10;AI-generated content may be incorrect.">
            <a:extLst>
              <a:ext uri="{FF2B5EF4-FFF2-40B4-BE49-F238E27FC236}">
                <a16:creationId xmlns:a16="http://schemas.microsoft.com/office/drawing/2014/main" id="{7F0AA055-C04D-513C-A10D-F67E2C903A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2282233"/>
            <a:ext cx="4926185" cy="3307007"/>
          </a:xfrm>
          <a:prstGeom prst="rect">
            <a:avLst/>
          </a:prstGeom>
        </p:spPr>
      </p:pic>
    </p:spTree>
    <p:extLst>
      <p:ext uri="{BB962C8B-B14F-4D97-AF65-F5344CB8AC3E}">
        <p14:creationId xmlns:p14="http://schemas.microsoft.com/office/powerpoint/2010/main" val="3042457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7030A0"/>
                </a:solidFill>
              </a:rPr>
              <a:t>Student Composition &amp; Resource Efficiency Metrics</a:t>
            </a:r>
          </a:p>
        </p:txBody>
      </p:sp>
      <p:pic>
        <p:nvPicPr>
          <p:cNvPr id="8" name="Picture 7" descr="A screenshot of a cell phone&#10;&#10;AI-generated content may be incorrect.">
            <a:extLst>
              <a:ext uri="{FF2B5EF4-FFF2-40B4-BE49-F238E27FC236}">
                <a16:creationId xmlns:a16="http://schemas.microsoft.com/office/drawing/2014/main" id="{A56D0A86-0EDD-3BF1-B0F3-D12692C627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2428838"/>
            <a:ext cx="4951724" cy="4228355"/>
          </a:xfrm>
          <a:prstGeom prst="rect">
            <a:avLst/>
          </a:prstGeom>
        </p:spPr>
      </p:pic>
    </p:spTree>
    <p:extLst>
      <p:ext uri="{BB962C8B-B14F-4D97-AF65-F5344CB8AC3E}">
        <p14:creationId xmlns:p14="http://schemas.microsoft.com/office/powerpoint/2010/main" val="3456944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CF420-61F8-EEE7-3B67-84133F217D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4A0337-153C-88E0-F85A-A64A04BA059D}"/>
              </a:ext>
            </a:extLst>
          </p:cNvPr>
          <p:cNvSpPr>
            <a:spLocks noGrp="1"/>
          </p:cNvSpPr>
          <p:nvPr>
            <p:ph type="title"/>
          </p:nvPr>
        </p:nvSpPr>
        <p:spPr/>
        <p:txBody>
          <a:bodyPr/>
          <a:lstStyle/>
          <a:p>
            <a:r>
              <a:rPr lang="en-US" dirty="0">
                <a:solidFill>
                  <a:srgbClr val="7030A0"/>
                </a:solidFill>
              </a:rPr>
              <a:t>Income Source Analysis</a:t>
            </a:r>
          </a:p>
        </p:txBody>
      </p:sp>
      <p:sp>
        <p:nvSpPr>
          <p:cNvPr id="4" name="TextBox 3">
            <a:extLst>
              <a:ext uri="{FF2B5EF4-FFF2-40B4-BE49-F238E27FC236}">
                <a16:creationId xmlns:a16="http://schemas.microsoft.com/office/drawing/2014/main" id="{A1ABDD59-9730-41F1-FAC6-D0E9A5A623DF}"/>
              </a:ext>
            </a:extLst>
          </p:cNvPr>
          <p:cNvSpPr txBox="1"/>
          <p:nvPr/>
        </p:nvSpPr>
        <p:spPr>
          <a:xfrm>
            <a:off x="412035" y="5647698"/>
            <a:ext cx="7920880" cy="1200329"/>
          </a:xfrm>
          <a:prstGeom prst="rect">
            <a:avLst/>
          </a:prstGeom>
          <a:noFill/>
        </p:spPr>
        <p:txBody>
          <a:bodyPr wrap="square">
            <a:spAutoFit/>
          </a:bodyPr>
          <a:lstStyle/>
          <a:p>
            <a:r>
              <a:rPr lang="en-GB" b="1" i="0" dirty="0">
                <a:solidFill>
                  <a:srgbClr val="7030A0"/>
                </a:solidFill>
                <a:effectLst/>
                <a:latin typeface="Segoe UI" panose="020B0502040204020203" pitchFamily="34" charset="0"/>
              </a:rPr>
              <a:t>Key Takeaway:</a:t>
            </a:r>
            <a:r>
              <a:rPr lang="en-GB" b="0" i="0" dirty="0">
                <a:solidFill>
                  <a:srgbClr val="7030A0"/>
                </a:solidFill>
                <a:effectLst/>
                <a:latin typeface="Segoe UI" panose="020B0502040204020203" pitchFamily="34" charset="0"/>
              </a:rPr>
              <a:t> UoM shows balanced income diversification with exceptional research funding, strong charity support, and above-average industry engagement. The university secures 5.42% of all Russell Group research income.</a:t>
            </a:r>
            <a:endParaRPr lang="en-US" dirty="0">
              <a:solidFill>
                <a:srgbClr val="7030A0"/>
              </a:solidFill>
            </a:endParaRPr>
          </a:p>
        </p:txBody>
      </p:sp>
      <p:pic>
        <p:nvPicPr>
          <p:cNvPr id="6" name="Picture 5" descr="A screenshot of a graph&#10;&#10;AI-generated content may be incorrect.">
            <a:extLst>
              <a:ext uri="{FF2B5EF4-FFF2-40B4-BE49-F238E27FC236}">
                <a16:creationId xmlns:a16="http://schemas.microsoft.com/office/drawing/2014/main" id="{CCA4741D-2CD5-41B5-A91E-EB27A12AA2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880" y="2132856"/>
            <a:ext cx="4419002" cy="3112343"/>
          </a:xfrm>
          <a:prstGeom prst="rect">
            <a:avLst/>
          </a:prstGeom>
        </p:spPr>
      </p:pic>
    </p:spTree>
    <p:extLst>
      <p:ext uri="{BB962C8B-B14F-4D97-AF65-F5344CB8AC3E}">
        <p14:creationId xmlns:p14="http://schemas.microsoft.com/office/powerpoint/2010/main" val="2532645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E5527-6C4D-D238-DD64-7104599AB6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3B3655-562D-9D26-C485-876131B8F9F7}"/>
              </a:ext>
            </a:extLst>
          </p:cNvPr>
          <p:cNvSpPr>
            <a:spLocks noGrp="1"/>
          </p:cNvSpPr>
          <p:nvPr>
            <p:ph type="title"/>
          </p:nvPr>
        </p:nvSpPr>
        <p:spPr/>
        <p:txBody>
          <a:bodyPr/>
          <a:lstStyle/>
          <a:p>
            <a:r>
              <a:rPr lang="en-GB" b="1" i="0" dirty="0">
                <a:solidFill>
                  <a:srgbClr val="7030A0"/>
                </a:solidFill>
                <a:effectLst/>
                <a:latin typeface="Segoe UI" panose="020B0502040204020203" pitchFamily="34" charset="0"/>
              </a:rPr>
              <a:t>Russell Group Position</a:t>
            </a:r>
            <a:endParaRPr lang="en-US" dirty="0">
              <a:solidFill>
                <a:srgbClr val="7030A0"/>
              </a:solidFill>
            </a:endParaRPr>
          </a:p>
        </p:txBody>
      </p:sp>
      <p:pic>
        <p:nvPicPr>
          <p:cNvPr id="4" name="Picture 3" descr="A screenshot of a phone&#10;&#10;AI-generated content may be incorrect.">
            <a:extLst>
              <a:ext uri="{FF2B5EF4-FFF2-40B4-BE49-F238E27FC236}">
                <a16:creationId xmlns:a16="http://schemas.microsoft.com/office/drawing/2014/main" id="{91A74CC0-DFDE-E598-6421-770DB816CC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880" y="2132856"/>
            <a:ext cx="6192688" cy="3616967"/>
          </a:xfrm>
          <a:prstGeom prst="rect">
            <a:avLst/>
          </a:prstGeom>
        </p:spPr>
      </p:pic>
      <p:sp>
        <p:nvSpPr>
          <p:cNvPr id="6" name="TextBox 5">
            <a:extLst>
              <a:ext uri="{FF2B5EF4-FFF2-40B4-BE49-F238E27FC236}">
                <a16:creationId xmlns:a16="http://schemas.microsoft.com/office/drawing/2014/main" id="{A72585FA-8545-CACB-FDEA-5FEF7E7CCE04}"/>
              </a:ext>
            </a:extLst>
          </p:cNvPr>
          <p:cNvSpPr txBox="1"/>
          <p:nvPr/>
        </p:nvSpPr>
        <p:spPr>
          <a:xfrm>
            <a:off x="447531" y="5589240"/>
            <a:ext cx="8290589" cy="1200329"/>
          </a:xfrm>
          <a:prstGeom prst="rect">
            <a:avLst/>
          </a:prstGeom>
          <a:noFill/>
        </p:spPr>
        <p:txBody>
          <a:bodyPr wrap="square">
            <a:spAutoFit/>
          </a:bodyPr>
          <a:lstStyle/>
          <a:p>
            <a:r>
              <a:rPr lang="en-GB" b="1" i="0" dirty="0">
                <a:solidFill>
                  <a:srgbClr val="7030A0"/>
                </a:solidFill>
                <a:effectLst/>
                <a:latin typeface="Segoe UI" panose="020B0502040204020203" pitchFamily="34" charset="0"/>
              </a:rPr>
              <a:t>Key Takeaway:</a:t>
            </a:r>
            <a:r>
              <a:rPr lang="en-GB" b="0" i="0" dirty="0">
                <a:solidFill>
                  <a:srgbClr val="7030A0"/>
                </a:solidFill>
                <a:effectLst/>
                <a:latin typeface="Segoe UI" panose="020B0502040204020203" pitchFamily="34" charset="0"/>
              </a:rPr>
              <a:t> UoM holds exceptional rankings within the Russell Group, particularly in research income (2nd) and total income (3rd). The university significantly exceeds Russell Group averages in student numbers and research income percentage.</a:t>
            </a:r>
            <a:endParaRPr lang="en-US" dirty="0">
              <a:solidFill>
                <a:srgbClr val="7030A0"/>
              </a:solidFill>
            </a:endParaRPr>
          </a:p>
        </p:txBody>
      </p:sp>
    </p:spTree>
    <p:extLst>
      <p:ext uri="{BB962C8B-B14F-4D97-AF65-F5344CB8AC3E}">
        <p14:creationId xmlns:p14="http://schemas.microsoft.com/office/powerpoint/2010/main" val="2536383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E8742-2ED8-1909-85D9-3A21181059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F484F8-CB95-C310-B661-D5590A1FE1B2}"/>
              </a:ext>
            </a:extLst>
          </p:cNvPr>
          <p:cNvSpPr>
            <a:spLocks noGrp="1"/>
          </p:cNvSpPr>
          <p:nvPr>
            <p:ph type="title"/>
          </p:nvPr>
        </p:nvSpPr>
        <p:spPr>
          <a:xfrm>
            <a:off x="405880" y="1268760"/>
            <a:ext cx="6686400" cy="1143000"/>
          </a:xfrm>
        </p:spPr>
        <p:txBody>
          <a:bodyPr/>
          <a:lstStyle/>
          <a:p>
            <a:pPr algn="ctr"/>
            <a:r>
              <a:rPr lang="en-GB" b="1" i="0" dirty="0">
                <a:solidFill>
                  <a:srgbClr val="7030A0"/>
                </a:solidFill>
                <a:effectLst/>
                <a:latin typeface="Segoe UI" panose="020B0502040204020203" pitchFamily="34" charset="0"/>
              </a:rPr>
              <a:t>Russell Group Comparison Ratios</a:t>
            </a:r>
          </a:p>
        </p:txBody>
      </p:sp>
      <p:pic>
        <p:nvPicPr>
          <p:cNvPr id="4" name="Picture 3" descr="A screenshot of a number of numbers&#10;&#10;AI-generated content may be incorrect.">
            <a:extLst>
              <a:ext uri="{FF2B5EF4-FFF2-40B4-BE49-F238E27FC236}">
                <a16:creationId xmlns:a16="http://schemas.microsoft.com/office/drawing/2014/main" id="{C1F870CA-EE88-617F-D1E9-6255746C2F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880" y="2383195"/>
            <a:ext cx="5318248" cy="4010482"/>
          </a:xfrm>
          <a:prstGeom prst="rect">
            <a:avLst/>
          </a:prstGeom>
        </p:spPr>
      </p:pic>
    </p:spTree>
    <p:extLst>
      <p:ext uri="{BB962C8B-B14F-4D97-AF65-F5344CB8AC3E}">
        <p14:creationId xmlns:p14="http://schemas.microsoft.com/office/powerpoint/2010/main" val="367402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FEC72-6FAA-5586-8AE8-1CACFEAF8A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8A8532-C735-BE91-EF18-9C92DA0B2DF9}"/>
              </a:ext>
            </a:extLst>
          </p:cNvPr>
          <p:cNvSpPr>
            <a:spLocks noGrp="1"/>
          </p:cNvSpPr>
          <p:nvPr>
            <p:ph type="title"/>
          </p:nvPr>
        </p:nvSpPr>
        <p:spPr>
          <a:xfrm>
            <a:off x="405880" y="1268760"/>
            <a:ext cx="6686400" cy="1143000"/>
          </a:xfrm>
        </p:spPr>
        <p:txBody>
          <a:bodyPr/>
          <a:lstStyle/>
          <a:p>
            <a:r>
              <a:rPr lang="en-GB" b="1" i="0" dirty="0">
                <a:solidFill>
                  <a:srgbClr val="7030A0"/>
                </a:solidFill>
                <a:effectLst/>
                <a:latin typeface="Segoe UI" panose="020B0502040204020203" pitchFamily="34" charset="0"/>
              </a:rPr>
              <a:t>Russell Group Market Share</a:t>
            </a:r>
          </a:p>
        </p:txBody>
      </p:sp>
      <p:pic>
        <p:nvPicPr>
          <p:cNvPr id="4" name="Picture 3" descr="A screenshot of a graph&#10;&#10;AI-generated content may be incorrect.">
            <a:extLst>
              <a:ext uri="{FF2B5EF4-FFF2-40B4-BE49-F238E27FC236}">
                <a16:creationId xmlns:a16="http://schemas.microsoft.com/office/drawing/2014/main" id="{05B9C01C-F47E-79B2-D785-67A665D27C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880" y="2204864"/>
            <a:ext cx="5442818" cy="4220602"/>
          </a:xfrm>
          <a:prstGeom prst="rect">
            <a:avLst/>
          </a:prstGeom>
        </p:spPr>
      </p:pic>
    </p:spTree>
    <p:extLst>
      <p:ext uri="{BB962C8B-B14F-4D97-AF65-F5344CB8AC3E}">
        <p14:creationId xmlns:p14="http://schemas.microsoft.com/office/powerpoint/2010/main" val="3121670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339EA-1968-ED53-E41A-73F7D494C6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94F767-96FB-2B7D-67AD-24C0A93FA7C4}"/>
              </a:ext>
            </a:extLst>
          </p:cNvPr>
          <p:cNvSpPr>
            <a:spLocks noGrp="1"/>
          </p:cNvSpPr>
          <p:nvPr>
            <p:ph type="title"/>
          </p:nvPr>
        </p:nvSpPr>
        <p:spPr>
          <a:xfrm>
            <a:off x="2699792" y="620688"/>
            <a:ext cx="6686400" cy="1143000"/>
          </a:xfrm>
        </p:spPr>
        <p:txBody>
          <a:bodyPr/>
          <a:lstStyle/>
          <a:p>
            <a:r>
              <a:rPr lang="en-GB" b="1" i="0" dirty="0">
                <a:solidFill>
                  <a:srgbClr val="7030A0"/>
                </a:solidFill>
                <a:effectLst/>
                <a:latin typeface="Segoe UI" panose="020B0502040204020203" pitchFamily="34" charset="0"/>
              </a:rPr>
              <a:t>Key Insights</a:t>
            </a:r>
          </a:p>
        </p:txBody>
      </p:sp>
      <p:sp>
        <p:nvSpPr>
          <p:cNvPr id="4" name="TextBox 3">
            <a:extLst>
              <a:ext uri="{FF2B5EF4-FFF2-40B4-BE49-F238E27FC236}">
                <a16:creationId xmlns:a16="http://schemas.microsoft.com/office/drawing/2014/main" id="{7CFAEAC1-F9AD-C4DB-60A6-B0284E435205}"/>
              </a:ext>
            </a:extLst>
          </p:cNvPr>
          <p:cNvSpPr txBox="1"/>
          <p:nvPr/>
        </p:nvSpPr>
        <p:spPr>
          <a:xfrm>
            <a:off x="404683" y="1859485"/>
            <a:ext cx="8532402" cy="4801314"/>
          </a:xfrm>
          <a:prstGeom prst="rect">
            <a:avLst/>
          </a:prstGeom>
          <a:noFill/>
        </p:spPr>
        <p:txBody>
          <a:bodyPr wrap="square">
            <a:spAutoFit/>
          </a:bodyPr>
          <a:lstStyle/>
          <a:p>
            <a:pPr marL="285750" indent="-285750" algn="l">
              <a:buFont typeface="Arial" panose="020B0604020202020204" pitchFamily="34" charset="0"/>
              <a:buChar char="•"/>
            </a:pPr>
            <a:r>
              <a:rPr lang="en-GB" b="0" i="0" dirty="0">
                <a:solidFill>
                  <a:srgbClr val="333333"/>
                </a:solidFill>
                <a:effectLst/>
                <a:latin typeface="Segoe UI" panose="020B0502040204020203" pitchFamily="34" charset="0"/>
              </a:rPr>
              <a:t>The University of Manchester demonstrates </a:t>
            </a:r>
            <a:r>
              <a:rPr lang="en-GB" b="1" i="0" dirty="0">
                <a:solidFill>
                  <a:srgbClr val="333333"/>
                </a:solidFill>
                <a:effectLst/>
                <a:latin typeface="Segoe UI" panose="020B0502040204020203" pitchFamily="34" charset="0"/>
              </a:rPr>
              <a:t>strong research intensity</a:t>
            </a:r>
            <a:r>
              <a:rPr lang="en-GB" b="0" i="0" dirty="0">
                <a:solidFill>
                  <a:srgbClr val="333333"/>
                </a:solidFill>
                <a:effectLst/>
                <a:latin typeface="Segoe UI" panose="020B0502040204020203" pitchFamily="34" charset="0"/>
              </a:rPr>
              <a:t>, with research income comprising 43.36% of total income, significantly above the Russell Group average.</a:t>
            </a:r>
          </a:p>
          <a:p>
            <a:pPr marL="285750" indent="-285750" algn="l">
              <a:buFont typeface="Arial" panose="020B0604020202020204" pitchFamily="34" charset="0"/>
              <a:buChar char="•"/>
            </a:pPr>
            <a:r>
              <a:rPr lang="en-GB" b="0" i="0" dirty="0">
                <a:solidFill>
                  <a:srgbClr val="333333"/>
                </a:solidFill>
                <a:effectLst/>
                <a:latin typeface="Segoe UI" panose="020B0502040204020203" pitchFamily="34" charset="0"/>
              </a:rPr>
              <a:t>UoM has a </a:t>
            </a:r>
            <a:r>
              <a:rPr lang="en-GB" b="1" i="0" dirty="0">
                <a:solidFill>
                  <a:srgbClr val="333333"/>
                </a:solidFill>
                <a:effectLst/>
                <a:latin typeface="Segoe UI" panose="020B0502040204020203" pitchFamily="34" charset="0"/>
              </a:rPr>
              <a:t>higher-than-average student-to-staff ratio</a:t>
            </a:r>
            <a:r>
              <a:rPr lang="en-GB" b="0" i="0" dirty="0">
                <a:solidFill>
                  <a:srgbClr val="333333"/>
                </a:solidFill>
                <a:effectLst/>
                <a:latin typeface="Segoe UI" panose="020B0502040204020203" pitchFamily="34" charset="0"/>
              </a:rPr>
              <a:t> (8.84 vs 7.78 Russell Group average), indicating potential efficiency in teaching delivery but possibly higher workloads for staff.</a:t>
            </a:r>
          </a:p>
          <a:p>
            <a:pPr marL="285750" indent="-285750" algn="l">
              <a:buFont typeface="Arial" panose="020B0604020202020204" pitchFamily="34" charset="0"/>
              <a:buChar char="•"/>
            </a:pPr>
            <a:r>
              <a:rPr lang="en-GB" b="0" i="0" dirty="0">
                <a:solidFill>
                  <a:srgbClr val="333333"/>
                </a:solidFill>
                <a:effectLst/>
                <a:latin typeface="Segoe UI" panose="020B0502040204020203" pitchFamily="34" charset="0"/>
              </a:rPr>
              <a:t>The university shows </a:t>
            </a:r>
            <a:r>
              <a:rPr lang="en-GB" b="1" i="0" dirty="0">
                <a:solidFill>
                  <a:srgbClr val="333333"/>
                </a:solidFill>
                <a:effectLst/>
                <a:latin typeface="Segoe UI" panose="020B0502040204020203" pitchFamily="34" charset="0"/>
              </a:rPr>
              <a:t>balanced income diversification</a:t>
            </a:r>
            <a:r>
              <a:rPr lang="en-GB" b="0" i="0" dirty="0">
                <a:solidFill>
                  <a:srgbClr val="333333"/>
                </a:solidFill>
                <a:effectLst/>
                <a:latin typeface="Segoe UI" panose="020B0502040204020203" pitchFamily="34" charset="0"/>
              </a:rPr>
              <a:t> with solid funding from Research Councils (43.36%), UK-based charities (20.49%), and industry engagement (9.41%).</a:t>
            </a:r>
          </a:p>
          <a:p>
            <a:pPr marL="285750" indent="-285750" algn="l">
              <a:buFont typeface="Arial" panose="020B0604020202020204" pitchFamily="34" charset="0"/>
              <a:buChar char="•"/>
            </a:pPr>
            <a:r>
              <a:rPr lang="en-GB" b="0" i="0" dirty="0">
                <a:solidFill>
                  <a:srgbClr val="333333"/>
                </a:solidFill>
                <a:effectLst/>
                <a:latin typeface="Segoe UI" panose="020B0502040204020203" pitchFamily="34" charset="0"/>
              </a:rPr>
              <a:t>UoM has a </a:t>
            </a:r>
            <a:r>
              <a:rPr lang="en-GB" b="1" i="0" dirty="0">
                <a:solidFill>
                  <a:srgbClr val="333333"/>
                </a:solidFill>
                <a:effectLst/>
                <a:latin typeface="Segoe UI" panose="020B0502040204020203" pitchFamily="34" charset="0"/>
              </a:rPr>
              <a:t>larger postgraduate research community</a:t>
            </a:r>
            <a:r>
              <a:rPr lang="en-GB" b="0" i="0" dirty="0">
                <a:solidFill>
                  <a:srgbClr val="333333"/>
                </a:solidFill>
                <a:effectLst/>
                <a:latin typeface="Segoe UI" panose="020B0502040204020203" pitchFamily="34" charset="0"/>
              </a:rPr>
              <a:t> (10.66% of students) than the Russell Group average (9%), reinforcing its research-intensive profile.</a:t>
            </a:r>
          </a:p>
          <a:p>
            <a:pPr marL="285750" indent="-285750" algn="l">
              <a:buFont typeface="Arial" panose="020B0604020202020204" pitchFamily="34" charset="0"/>
              <a:buChar char="•"/>
            </a:pPr>
            <a:r>
              <a:rPr lang="en-GB" b="0" i="0" dirty="0">
                <a:solidFill>
                  <a:srgbClr val="333333"/>
                </a:solidFill>
                <a:effectLst/>
                <a:latin typeface="Segoe UI" panose="020B0502040204020203" pitchFamily="34" charset="0"/>
              </a:rPr>
              <a:t>Despite being above average in size and total income, UoM's </a:t>
            </a:r>
            <a:r>
              <a:rPr lang="en-GB" b="1" i="0" dirty="0">
                <a:solidFill>
                  <a:srgbClr val="333333"/>
                </a:solidFill>
                <a:effectLst/>
                <a:latin typeface="Segoe UI" panose="020B0502040204020203" pitchFamily="34" charset="0"/>
              </a:rPr>
              <a:t>income per student is 12% below the Russell Group average</a:t>
            </a:r>
            <a:r>
              <a:rPr lang="en-GB" b="0" i="0" dirty="0">
                <a:solidFill>
                  <a:srgbClr val="333333"/>
                </a:solidFill>
                <a:effectLst/>
                <a:latin typeface="Segoe UI" panose="020B0502040204020203" pitchFamily="34" charset="0"/>
              </a:rPr>
              <a:t>, suggesting potential opportunities for revenue enhancement strategies.</a:t>
            </a:r>
          </a:p>
          <a:p>
            <a:pPr marL="285750" indent="-285750" algn="l">
              <a:buFont typeface="Arial" panose="020B0604020202020204" pitchFamily="34" charset="0"/>
              <a:buChar char="•"/>
            </a:pPr>
            <a:r>
              <a:rPr lang="en-GB" b="0" i="0" dirty="0">
                <a:solidFill>
                  <a:srgbClr val="333333"/>
                </a:solidFill>
                <a:effectLst/>
                <a:latin typeface="Segoe UI" panose="020B0502040204020203" pitchFamily="34" charset="0"/>
              </a:rPr>
              <a:t>The university captures approximately </a:t>
            </a:r>
            <a:r>
              <a:rPr lang="en-GB" b="1" i="0" dirty="0">
                <a:solidFill>
                  <a:srgbClr val="333333"/>
                </a:solidFill>
                <a:effectLst/>
                <a:latin typeface="Segoe UI" panose="020B0502040204020203" pitchFamily="34" charset="0"/>
              </a:rPr>
              <a:t>5.5% of Russell Group students</a:t>
            </a:r>
            <a:r>
              <a:rPr lang="en-GB" b="0" i="0" dirty="0">
                <a:solidFill>
                  <a:srgbClr val="333333"/>
                </a:solidFill>
                <a:effectLst/>
                <a:latin typeface="Segoe UI" panose="020B0502040204020203" pitchFamily="34" charset="0"/>
              </a:rPr>
              <a:t> and </a:t>
            </a:r>
            <a:r>
              <a:rPr lang="en-GB" b="1" i="0" dirty="0">
                <a:solidFill>
                  <a:srgbClr val="333333"/>
                </a:solidFill>
                <a:effectLst/>
                <a:latin typeface="Segoe UI" panose="020B0502040204020203" pitchFamily="34" charset="0"/>
              </a:rPr>
              <a:t>5.4% of Russell Group research income</a:t>
            </a:r>
            <a:r>
              <a:rPr lang="en-GB" b="0" i="0" dirty="0">
                <a:solidFill>
                  <a:srgbClr val="333333"/>
                </a:solidFill>
                <a:effectLst/>
                <a:latin typeface="Segoe UI" panose="020B0502040204020203" pitchFamily="34" charset="0"/>
              </a:rPr>
              <a:t>, demonstrating its significant position within the elite university group.</a:t>
            </a:r>
          </a:p>
        </p:txBody>
      </p:sp>
    </p:spTree>
    <p:extLst>
      <p:ext uri="{BB962C8B-B14F-4D97-AF65-F5344CB8AC3E}">
        <p14:creationId xmlns:p14="http://schemas.microsoft.com/office/powerpoint/2010/main" val="688707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90437-A5EF-7696-54A3-9ACC20F7ED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E84F69-57E5-A107-8A2C-BDE61E166174}"/>
              </a:ext>
            </a:extLst>
          </p:cNvPr>
          <p:cNvSpPr>
            <a:spLocks noGrp="1"/>
          </p:cNvSpPr>
          <p:nvPr>
            <p:ph type="title"/>
          </p:nvPr>
        </p:nvSpPr>
        <p:spPr/>
        <p:txBody>
          <a:bodyPr/>
          <a:lstStyle/>
          <a:p>
            <a:r>
              <a:rPr lang="en-US" dirty="0">
                <a:solidFill>
                  <a:srgbClr val="7030A0"/>
                </a:solidFill>
              </a:rPr>
              <a:t>Overall Comments</a:t>
            </a:r>
          </a:p>
        </p:txBody>
      </p:sp>
      <p:sp>
        <p:nvSpPr>
          <p:cNvPr id="3" name="Content Placeholder 2">
            <a:extLst>
              <a:ext uri="{FF2B5EF4-FFF2-40B4-BE49-F238E27FC236}">
                <a16:creationId xmlns:a16="http://schemas.microsoft.com/office/drawing/2014/main" id="{2C9D1FAE-701E-A4F8-37F5-BC8F3E9A8050}"/>
              </a:ext>
            </a:extLst>
          </p:cNvPr>
          <p:cNvSpPr>
            <a:spLocks noGrp="1"/>
          </p:cNvSpPr>
          <p:nvPr>
            <p:ph idx="1"/>
          </p:nvPr>
        </p:nvSpPr>
        <p:spPr>
          <a:xfrm>
            <a:off x="516176" y="2629607"/>
            <a:ext cx="8327672" cy="3633267"/>
          </a:xfrm>
        </p:spPr>
        <p:txBody>
          <a:bodyPr/>
          <a:lstStyle/>
          <a:p>
            <a:pPr marL="0" indent="0">
              <a:buNone/>
            </a:pPr>
            <a:r>
              <a:rPr lang="en-GB" sz="2000" dirty="0">
                <a:solidFill>
                  <a:srgbClr val="7030A0"/>
                </a:solidFill>
              </a:rPr>
              <a:t>The analysis reveals that the University of Manchester demonstrates strong research intensity with above-average research income, has a higher student-to-staff ratio than the Russell Group average, and maintains a well-diversified income portfolio.</a:t>
            </a:r>
          </a:p>
          <a:p>
            <a:pPr marL="0" indent="0">
              <a:buNone/>
            </a:pPr>
            <a:endParaRPr lang="en-GB" sz="2000" dirty="0">
              <a:solidFill>
                <a:srgbClr val="7030A0"/>
              </a:solidFill>
            </a:endParaRPr>
          </a:p>
        </p:txBody>
      </p:sp>
      <p:pic>
        <p:nvPicPr>
          <p:cNvPr id="4" name="Picture 3" descr="UoM-20140326_DSCF2448.jpg">
            <a:extLst>
              <a:ext uri="{FF2B5EF4-FFF2-40B4-BE49-F238E27FC236}">
                <a16:creationId xmlns:a16="http://schemas.microsoft.com/office/drawing/2014/main" id="{C6EF78DA-C32A-251A-32D3-D0EED970CC13}"/>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3419872" y="4581128"/>
            <a:ext cx="2520280" cy="1890210"/>
          </a:xfrm>
          <a:prstGeom prst="rect">
            <a:avLst/>
          </a:prstGeom>
        </p:spPr>
      </p:pic>
      <p:pic>
        <p:nvPicPr>
          <p:cNvPr id="6" name="Picture 5" descr="AerialView1.jpg">
            <a:extLst>
              <a:ext uri="{FF2B5EF4-FFF2-40B4-BE49-F238E27FC236}">
                <a16:creationId xmlns:a16="http://schemas.microsoft.com/office/drawing/2014/main" id="{6E4DA802-B4F8-3B22-FD9B-CC6B958042C8}"/>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39552" y="4581128"/>
            <a:ext cx="2496278" cy="1872208"/>
          </a:xfrm>
          <a:prstGeom prst="rect">
            <a:avLst/>
          </a:prstGeom>
        </p:spPr>
      </p:pic>
      <p:pic>
        <p:nvPicPr>
          <p:cNvPr id="7" name="Picture 6" descr="Broaden Your Studies 4 NEW.jpg">
            <a:extLst>
              <a:ext uri="{FF2B5EF4-FFF2-40B4-BE49-F238E27FC236}">
                <a16:creationId xmlns:a16="http://schemas.microsoft.com/office/drawing/2014/main" id="{4268A913-EA84-FEFE-1B2A-990D895EB10E}"/>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6372200" y="4581128"/>
            <a:ext cx="2520280" cy="1890210"/>
          </a:xfrm>
          <a:prstGeom prst="rect">
            <a:avLst/>
          </a:prstGeom>
        </p:spPr>
      </p:pic>
    </p:spTree>
    <p:extLst>
      <p:ext uri="{BB962C8B-B14F-4D97-AF65-F5344CB8AC3E}">
        <p14:creationId xmlns:p14="http://schemas.microsoft.com/office/powerpoint/2010/main" val="31411591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TotalTime>
  <Words>370</Words>
  <Application>Microsoft Macintosh PowerPoint</Application>
  <PresentationFormat>On-screen Show (4:3)</PresentationFormat>
  <Paragraphs>25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Segoe UI</vt:lpstr>
      <vt:lpstr>Office Theme</vt:lpstr>
      <vt:lpstr>PowerPoint Presentation</vt:lpstr>
      <vt:lpstr>Outline</vt:lpstr>
      <vt:lpstr>UoM: Key Figures</vt:lpstr>
      <vt:lpstr>Student Composition &amp; Resource Efficiency Metrics</vt:lpstr>
      <vt:lpstr>Income Source Analysis</vt:lpstr>
      <vt:lpstr>Russell Group Position</vt:lpstr>
      <vt:lpstr>Russell Group Comparison Ratios</vt:lpstr>
      <vt:lpstr>Russell Group Market Share</vt:lpstr>
      <vt:lpstr>Key Insights</vt:lpstr>
      <vt:lpstr>Overall Comments</vt:lpstr>
    </vt:vector>
  </TitlesOfParts>
  <Company>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MZYSSPB2</dc:creator>
  <cp:lastModifiedBy>Gao, Yiyang</cp:lastModifiedBy>
  <cp:revision>35</cp:revision>
  <dcterms:created xsi:type="dcterms:W3CDTF">2012-06-12T15:56:20Z</dcterms:created>
  <dcterms:modified xsi:type="dcterms:W3CDTF">2025-05-03T09:22:52Z</dcterms:modified>
</cp:coreProperties>
</file>